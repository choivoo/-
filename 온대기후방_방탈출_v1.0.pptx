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aAHWjqQiDtc.m4a" ContentType="audio/m4a"/>
  <Override PartName="/ppt/media/image15.svg" ContentType="image/svg+xml"/>
  <Override PartName="/ppt/media/image17.svg" ContentType="image/svg+xml"/>
  <Override PartName="/ppt/media/image19.svg" ContentType="image/svg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367" r:id="rId130"/>
    <p:sldId id="368" r:id="rId131"/>
    <p:sldId id="369" r:id="rId132"/>
    <p:sldId id="370" r:id="rId133"/>
    <p:sldId id="371" r:id="rId134"/>
    <p:sldId id="372" r:id="rId135"/>
    <p:sldId id="373" r:id="rId136"/>
    <p:sldId id="374" r:id="rId137"/>
    <p:sldId id="375" r:id="rId138"/>
    <p:sldId id="376" r:id="rId139"/>
    <p:sldId id="377" r:id="rId140"/>
    <p:sldId id="378" r:id="rId141"/>
    <p:sldId id="379" r:id="rId142"/>
    <p:sldId id="380" r:id="rId143"/>
    <p:sldId id="381" r:id="rId144"/>
    <p:sldId id="382" r:id="rId145"/>
    <p:sldId id="383" r:id="rId146"/>
    <p:sldId id="384" r:id="rId147"/>
    <p:sldId id="385" r:id="rId148"/>
    <p:sldId id="386" r:id="rId149"/>
    <p:sldId id="387" r:id="rId150"/>
    <p:sldId id="388" r:id="rId151"/>
    <p:sldId id="389" r:id="rId152"/>
    <p:sldId id="390" r:id="rId153"/>
    <p:sldId id="391" r:id="rId154"/>
    <p:sldId id="392" r:id="rId155"/>
    <p:sldId id="393" r:id="rId156"/>
    <p:sldId id="394" r:id="rId157"/>
    <p:sldId id="395" r:id="rId158"/>
    <p:sldId id="396" r:id="rId159"/>
    <p:sldId id="397" r:id="rId160"/>
    <p:sldId id="398" r:id="rId161"/>
    <p:sldId id="399" r:id="rId162"/>
    <p:sldId id="400" r:id="rId163"/>
    <p:sldId id="401" r:id="rId164"/>
    <p:sldId id="402" r:id="rId165"/>
    <p:sldId id="403" r:id="rId166"/>
    <p:sldId id="404" r:id="rId167"/>
    <p:sldId id="405" r:id="rId168"/>
    <p:sldId id="406" r:id="rId169"/>
    <p:sldId id="407" r:id="rId170"/>
    <p:sldId id="408" r:id="rId171"/>
    <p:sldId id="409" r:id="rId172"/>
    <p:sldId id="410" r:id="rId173"/>
    <p:sldId id="411" r:id="rId174"/>
    <p:sldId id="412" r:id="rId175"/>
    <p:sldId id="413" r:id="rId176"/>
    <p:sldId id="414" r:id="rId177"/>
    <p:sldId id="415" r:id="rId178"/>
    <p:sldId id="416" r:id="rId179"/>
    <p:sldId id="417" r:id="rId180"/>
    <p:sldId id="418" r:id="rId181"/>
    <p:sldId id="419" r:id="rId182"/>
    <p:sldId id="420" r:id="rId183"/>
    <p:sldId id="421" r:id="rId184"/>
    <p:sldId id="422" r:id="rId185"/>
    <p:sldId id="423" r:id="rId186"/>
    <p:sldId id="424" r:id="rId187"/>
    <p:sldId id="425" r:id="rId188"/>
    <p:sldId id="426" r:id="rId189"/>
    <p:sldId id="427" r:id="rId190"/>
    <p:sldId id="428" r:id="rId191"/>
    <p:sldId id="429" r:id="rId192"/>
    <p:sldId id="430" r:id="rId193"/>
    <p:sldId id="431" r:id="rId194"/>
    <p:sldId id="432" r:id="rId195"/>
    <p:sldId id="433" r:id="rId196"/>
    <p:sldId id="434" r:id="rId197"/>
    <p:sldId id="435" r:id="rId198"/>
    <p:sldId id="436" r:id="rId199"/>
    <p:sldId id="437" r:id="rId200"/>
    <p:sldId id="438" r:id="rId201"/>
    <p:sldId id="439" r:id="rId202"/>
    <p:sldId id="440" r:id="rId203"/>
    <p:sldId id="441" r:id="rId204"/>
    <p:sldId id="442" r:id="rId205"/>
    <p:sldId id="443" r:id="rId206"/>
    <p:sldId id="444" r:id="rId207"/>
    <p:sldId id="445" r:id="rId208"/>
    <p:sldId id="446" r:id="rId209"/>
    <p:sldId id="447" r:id="rId210"/>
    <p:sldId id="448" r:id="rId211"/>
    <p:sldId id="449" r:id="rId212"/>
    <p:sldId id="450" r:id="rId213"/>
    <p:sldId id="451" r:id="rId214"/>
    <p:sldId id="452" r:id="rId215"/>
    <p:sldId id="453" r:id="rId216"/>
    <p:sldId id="454" r:id="rId217"/>
    <p:sldId id="455" r:id="rId218"/>
    <p:sldId id="456" r:id="rId219"/>
    <p:sldId id="457" r:id="rId220"/>
    <p:sldId id="458" r:id="rId221"/>
    <p:sldId id="459" r:id="rId222"/>
    <p:sldId id="460" r:id="rId223"/>
    <p:sldId id="461" r:id="rId224"/>
    <p:sldId id="462" r:id="rId225"/>
    <p:sldId id="463" r:id="rId226"/>
    <p:sldId id="464" r:id="rId227"/>
    <p:sldId id="465" r:id="rId228"/>
    <p:sldId id="466" r:id="rId229"/>
    <p:sldId id="467" r:id="rId230"/>
    <p:sldId id="468" r:id="rId231"/>
    <p:sldId id="469" r:id="rId232"/>
    <p:sldId id="470" r:id="rId233"/>
    <p:sldId id="471" r:id="rId234"/>
    <p:sldId id="472" r:id="rId235"/>
    <p:sldId id="473" r:id="rId236"/>
    <p:sldId id="474" r:id="rId237"/>
    <p:sldId id="475" r:id="rId238"/>
    <p:sldId id="476" r:id="rId239"/>
    <p:sldId id="477" r:id="rId240"/>
    <p:sldId id="478" r:id="rId241"/>
    <p:sldId id="479" r:id="rId242"/>
    <p:sldId id="480" r:id="rId243"/>
    <p:sldId id="481" r:id="rId244"/>
    <p:sldId id="482" r:id="rId245"/>
    <p:sldId id="483" r:id="rId246"/>
    <p:sldId id="484" r:id="rId247"/>
    <p:sldId id="485" r:id="rId248"/>
    <p:sldId id="486" r:id="rId249"/>
    <p:sldId id="487" r:id="rId250"/>
    <p:sldId id="488" r:id="rId251"/>
    <p:sldId id="489" r:id="rId252"/>
    <p:sldId id="490" r:id="rId253"/>
    <p:sldId id="491" r:id="rId254"/>
    <p:sldId id="492" r:id="rId255"/>
    <p:sldId id="493" r:id="rId256"/>
    <p:sldId id="494" r:id="rId257"/>
    <p:sldId id="495" r:id="rId258"/>
    <p:sldId id="496" r:id="rId259"/>
    <p:sldId id="497" r:id="rId260"/>
    <p:sldId id="498" r:id="rId261"/>
    <p:sldId id="499" r:id="rId262"/>
    <p:sldId id="500" r:id="rId263"/>
    <p:sldId id="501" r:id="rId264"/>
    <p:sldId id="502" r:id="rId265"/>
    <p:sldId id="503" r:id="rId266"/>
    <p:sldId id="504" r:id="rId267"/>
    <p:sldId id="505" r:id="rId268"/>
    <p:sldId id="506" r:id="rId269"/>
    <p:sldId id="507" r:id="rId270"/>
    <p:sldId id="508" r:id="rId271"/>
    <p:sldId id="509" r:id="rId272"/>
    <p:sldId id="510" r:id="rId273"/>
    <p:sldId id="511" r:id="rId274"/>
    <p:sldId id="512" r:id="rId275"/>
    <p:sldId id="513" r:id="rId276"/>
    <p:sldId id="514" r:id="rId277"/>
    <p:sldId id="515" r:id="rId278"/>
    <p:sldId id="516" r:id="rId279"/>
    <p:sldId id="517" r:id="rId280"/>
    <p:sldId id="518" r:id="rId281"/>
    <p:sldId id="519" r:id="rId282"/>
    <p:sldId id="520" r:id="rId283"/>
    <p:sldId id="521" r:id="rId284"/>
    <p:sldId id="522" r:id="rId285"/>
    <p:sldId id="523" r:id="rId286"/>
    <p:sldId id="524" r:id="rId287"/>
    <p:sldId id="525" r:id="rId288"/>
  </p:sldIdLst>
  <p:sldSz cx="18288000" cy="10287000"/>
  <p:notesSz cx="6858000" cy="9144000"/>
  <p:embeddedFontLst>
    <p:embeddedFont>
      <p:font typeface="Black and White Picture" charset="1" panose="00000000000000000000"/>
      <p:regular r:id="rId117"/>
    </p:embeddedFont>
    <p:embeddedFont>
      <p:font typeface="Arial" charset="1" panose="020B0604020202020204"/>
      <p:regular r:id="rId1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117" Type="http://schemas.openxmlformats.org/officeDocument/2006/relationships/font" Target="fonts/font117.fntdata"/><Relationship Id="rId118" Type="http://schemas.openxmlformats.org/officeDocument/2006/relationships/notesMaster" Target="notesMasters/notesMaster1.xml"/><Relationship Id="rId119" Type="http://schemas.openxmlformats.org/officeDocument/2006/relationships/theme" Target="theme/theme2.xml"/><Relationship Id="rId120" Type="http://schemas.openxmlformats.org/officeDocument/2006/relationships/notesSlide" Target="notesSlides/notesSlide1.xml"/><Relationship Id="rId121" Type="http://schemas.openxmlformats.org/officeDocument/2006/relationships/notesSlide" Target="notesSlides/notesSlide2.xml"/><Relationship Id="rId122" Type="http://schemas.openxmlformats.org/officeDocument/2006/relationships/notesSlide" Target="notesSlides/notesSlide3.xml"/><Relationship Id="rId123" Type="http://schemas.openxmlformats.org/officeDocument/2006/relationships/notesSlide" Target="notesSlides/notesSlide4.xml"/><Relationship Id="rId124" Type="http://schemas.openxmlformats.org/officeDocument/2006/relationships/notesSlide" Target="notesSlides/notesSlide5.xml"/><Relationship Id="rId125" Type="http://schemas.openxmlformats.org/officeDocument/2006/relationships/notesSlide" Target="notesSlides/notesSlide6.xml"/><Relationship Id="rId126" Type="http://schemas.openxmlformats.org/officeDocument/2006/relationships/notesSlide" Target="notesSlides/notesSlide7.xml"/><Relationship Id="rId127" Type="http://schemas.openxmlformats.org/officeDocument/2006/relationships/notesSlide" Target="notesSlides/notesSlide8.xml"/><Relationship Id="rId128" Type="http://schemas.openxmlformats.org/officeDocument/2006/relationships/notesSlide" Target="notesSlides/notesSlide9.xml"/><Relationship Id="rId129" Type="http://schemas.openxmlformats.org/officeDocument/2006/relationships/font" Target="fonts/font129.fntdata"/><Relationship Id="rId130" Type="http://schemas.openxmlformats.org/officeDocument/2006/relationships/slide" Target="slides/slide112.xml"/><Relationship Id="rId131" Type="http://schemas.openxmlformats.org/officeDocument/2006/relationships/slide" Target="slides/slide113.xml"/><Relationship Id="rId132" Type="http://schemas.openxmlformats.org/officeDocument/2006/relationships/slide" Target="slides/slide114.xml"/><Relationship Id="rId133" Type="http://schemas.openxmlformats.org/officeDocument/2006/relationships/slide" Target="slides/slide115.xml"/><Relationship Id="rId134" Type="http://schemas.openxmlformats.org/officeDocument/2006/relationships/slide" Target="slides/slide116.xml"/><Relationship Id="rId135" Type="http://schemas.openxmlformats.org/officeDocument/2006/relationships/slide" Target="slides/slide117.xml"/><Relationship Id="rId136" Type="http://schemas.openxmlformats.org/officeDocument/2006/relationships/slide" Target="slides/slide118.xml"/><Relationship Id="rId137" Type="http://schemas.openxmlformats.org/officeDocument/2006/relationships/slide" Target="slides/slide119.xml"/><Relationship Id="rId138" Type="http://schemas.openxmlformats.org/officeDocument/2006/relationships/slide" Target="slides/slide120.xml"/><Relationship Id="rId139" Type="http://schemas.openxmlformats.org/officeDocument/2006/relationships/slide" Target="slides/slide121.xml"/><Relationship Id="rId140" Type="http://schemas.openxmlformats.org/officeDocument/2006/relationships/slide" Target="slides/slide122.xml"/><Relationship Id="rId141" Type="http://schemas.openxmlformats.org/officeDocument/2006/relationships/slide" Target="slides/slide123.xml"/><Relationship Id="rId142" Type="http://schemas.openxmlformats.org/officeDocument/2006/relationships/slide" Target="slides/slide124.xml"/><Relationship Id="rId143" Type="http://schemas.openxmlformats.org/officeDocument/2006/relationships/slide" Target="slides/slide125.xml"/><Relationship Id="rId144" Type="http://schemas.openxmlformats.org/officeDocument/2006/relationships/slide" Target="slides/slide126.xml"/><Relationship Id="rId145" Type="http://schemas.openxmlformats.org/officeDocument/2006/relationships/slide" Target="slides/slide127.xml"/><Relationship Id="rId146" Type="http://schemas.openxmlformats.org/officeDocument/2006/relationships/slide" Target="slides/slide128.xml"/><Relationship Id="rId147" Type="http://schemas.openxmlformats.org/officeDocument/2006/relationships/slide" Target="slides/slide129.xml"/><Relationship Id="rId148" Type="http://schemas.openxmlformats.org/officeDocument/2006/relationships/slide" Target="slides/slide130.xml"/><Relationship Id="rId149" Type="http://schemas.openxmlformats.org/officeDocument/2006/relationships/slide" Target="slides/slide131.xml"/><Relationship Id="rId150" Type="http://schemas.openxmlformats.org/officeDocument/2006/relationships/slide" Target="slides/slide132.xml"/><Relationship Id="rId151" Type="http://schemas.openxmlformats.org/officeDocument/2006/relationships/slide" Target="slides/slide133.xml"/><Relationship Id="rId152" Type="http://schemas.openxmlformats.org/officeDocument/2006/relationships/slide" Target="slides/slide134.xml"/><Relationship Id="rId153" Type="http://schemas.openxmlformats.org/officeDocument/2006/relationships/slide" Target="slides/slide135.xml"/><Relationship Id="rId154" Type="http://schemas.openxmlformats.org/officeDocument/2006/relationships/slide" Target="slides/slide136.xml"/><Relationship Id="rId155" Type="http://schemas.openxmlformats.org/officeDocument/2006/relationships/slide" Target="slides/slide137.xml"/><Relationship Id="rId156" Type="http://schemas.openxmlformats.org/officeDocument/2006/relationships/slide" Target="slides/slide138.xml"/><Relationship Id="rId157" Type="http://schemas.openxmlformats.org/officeDocument/2006/relationships/slide" Target="slides/slide139.xml"/><Relationship Id="rId158" Type="http://schemas.openxmlformats.org/officeDocument/2006/relationships/slide" Target="slides/slide140.xml"/><Relationship Id="rId159" Type="http://schemas.openxmlformats.org/officeDocument/2006/relationships/slide" Target="slides/slide141.xml"/><Relationship Id="rId160" Type="http://schemas.openxmlformats.org/officeDocument/2006/relationships/slide" Target="slides/slide142.xml"/><Relationship Id="rId161" Type="http://schemas.openxmlformats.org/officeDocument/2006/relationships/slide" Target="slides/slide143.xml"/><Relationship Id="rId162" Type="http://schemas.openxmlformats.org/officeDocument/2006/relationships/slide" Target="slides/slide144.xml"/><Relationship Id="rId163" Type="http://schemas.openxmlformats.org/officeDocument/2006/relationships/slide" Target="slides/slide145.xml"/><Relationship Id="rId164" Type="http://schemas.openxmlformats.org/officeDocument/2006/relationships/slide" Target="slides/slide146.xml"/><Relationship Id="rId165" Type="http://schemas.openxmlformats.org/officeDocument/2006/relationships/slide" Target="slides/slide147.xml"/><Relationship Id="rId166" Type="http://schemas.openxmlformats.org/officeDocument/2006/relationships/slide" Target="slides/slide148.xml"/><Relationship Id="rId167" Type="http://schemas.openxmlformats.org/officeDocument/2006/relationships/slide" Target="slides/slide149.xml"/><Relationship Id="rId168" Type="http://schemas.openxmlformats.org/officeDocument/2006/relationships/slide" Target="slides/slide150.xml"/><Relationship Id="rId169" Type="http://schemas.openxmlformats.org/officeDocument/2006/relationships/slide" Target="slides/slide151.xml"/><Relationship Id="rId170" Type="http://schemas.openxmlformats.org/officeDocument/2006/relationships/slide" Target="slides/slide152.xml"/><Relationship Id="rId171" Type="http://schemas.openxmlformats.org/officeDocument/2006/relationships/slide" Target="slides/slide153.xml"/><Relationship Id="rId172" Type="http://schemas.openxmlformats.org/officeDocument/2006/relationships/slide" Target="slides/slide154.xml"/><Relationship Id="rId173" Type="http://schemas.openxmlformats.org/officeDocument/2006/relationships/slide" Target="slides/slide155.xml"/><Relationship Id="rId174" Type="http://schemas.openxmlformats.org/officeDocument/2006/relationships/slide" Target="slides/slide156.xml"/><Relationship Id="rId175" Type="http://schemas.openxmlformats.org/officeDocument/2006/relationships/slide" Target="slides/slide157.xml"/><Relationship Id="rId176" Type="http://schemas.openxmlformats.org/officeDocument/2006/relationships/slide" Target="slides/slide158.xml"/><Relationship Id="rId177" Type="http://schemas.openxmlformats.org/officeDocument/2006/relationships/slide" Target="slides/slide159.xml"/><Relationship Id="rId178" Type="http://schemas.openxmlformats.org/officeDocument/2006/relationships/slide" Target="slides/slide160.xml"/><Relationship Id="rId179" Type="http://schemas.openxmlformats.org/officeDocument/2006/relationships/slide" Target="slides/slide161.xml"/><Relationship Id="rId180" Type="http://schemas.openxmlformats.org/officeDocument/2006/relationships/slide" Target="slides/slide162.xml"/><Relationship Id="rId181" Type="http://schemas.openxmlformats.org/officeDocument/2006/relationships/slide" Target="slides/slide163.xml"/><Relationship Id="rId182" Type="http://schemas.openxmlformats.org/officeDocument/2006/relationships/slide" Target="slides/slide164.xml"/><Relationship Id="rId183" Type="http://schemas.openxmlformats.org/officeDocument/2006/relationships/slide" Target="slides/slide165.xml"/><Relationship Id="rId184" Type="http://schemas.openxmlformats.org/officeDocument/2006/relationships/slide" Target="slides/slide166.xml"/><Relationship Id="rId185" Type="http://schemas.openxmlformats.org/officeDocument/2006/relationships/slide" Target="slides/slide167.xml"/><Relationship Id="rId186" Type="http://schemas.openxmlformats.org/officeDocument/2006/relationships/slide" Target="slides/slide168.xml"/><Relationship Id="rId187" Type="http://schemas.openxmlformats.org/officeDocument/2006/relationships/slide" Target="slides/slide169.xml"/><Relationship Id="rId188" Type="http://schemas.openxmlformats.org/officeDocument/2006/relationships/slide" Target="slides/slide170.xml"/><Relationship Id="rId189" Type="http://schemas.openxmlformats.org/officeDocument/2006/relationships/slide" Target="slides/slide171.xml"/><Relationship Id="rId190" Type="http://schemas.openxmlformats.org/officeDocument/2006/relationships/slide" Target="slides/slide172.xml"/><Relationship Id="rId191" Type="http://schemas.openxmlformats.org/officeDocument/2006/relationships/slide" Target="slides/slide173.xml"/><Relationship Id="rId192" Type="http://schemas.openxmlformats.org/officeDocument/2006/relationships/slide" Target="slides/slide174.xml"/><Relationship Id="rId193" Type="http://schemas.openxmlformats.org/officeDocument/2006/relationships/slide" Target="slides/slide175.xml"/><Relationship Id="rId194" Type="http://schemas.openxmlformats.org/officeDocument/2006/relationships/slide" Target="slides/slide176.xml"/><Relationship Id="rId195" Type="http://schemas.openxmlformats.org/officeDocument/2006/relationships/slide" Target="slides/slide177.xml"/><Relationship Id="rId196" Type="http://schemas.openxmlformats.org/officeDocument/2006/relationships/slide" Target="slides/slide178.xml"/><Relationship Id="rId197" Type="http://schemas.openxmlformats.org/officeDocument/2006/relationships/slide" Target="slides/slide179.xml"/><Relationship Id="rId198" Type="http://schemas.openxmlformats.org/officeDocument/2006/relationships/slide" Target="slides/slide180.xml"/><Relationship Id="rId199" Type="http://schemas.openxmlformats.org/officeDocument/2006/relationships/slide" Target="slides/slide181.xml"/><Relationship Id="rId200" Type="http://schemas.openxmlformats.org/officeDocument/2006/relationships/slide" Target="slides/slide182.xml"/><Relationship Id="rId201" Type="http://schemas.openxmlformats.org/officeDocument/2006/relationships/slide" Target="slides/slide183.xml"/><Relationship Id="rId202" Type="http://schemas.openxmlformats.org/officeDocument/2006/relationships/slide" Target="slides/slide184.xml"/><Relationship Id="rId203" Type="http://schemas.openxmlformats.org/officeDocument/2006/relationships/slide" Target="slides/slide185.xml"/><Relationship Id="rId204" Type="http://schemas.openxmlformats.org/officeDocument/2006/relationships/slide" Target="slides/slide186.xml"/><Relationship Id="rId205" Type="http://schemas.openxmlformats.org/officeDocument/2006/relationships/slide" Target="slides/slide187.xml"/><Relationship Id="rId206" Type="http://schemas.openxmlformats.org/officeDocument/2006/relationships/slide" Target="slides/slide188.xml"/><Relationship Id="rId207" Type="http://schemas.openxmlformats.org/officeDocument/2006/relationships/slide" Target="slides/slide189.xml"/><Relationship Id="rId208" Type="http://schemas.openxmlformats.org/officeDocument/2006/relationships/slide" Target="slides/slide190.xml"/><Relationship Id="rId209" Type="http://schemas.openxmlformats.org/officeDocument/2006/relationships/slide" Target="slides/slide191.xml"/><Relationship Id="rId210" Type="http://schemas.openxmlformats.org/officeDocument/2006/relationships/slide" Target="slides/slide192.xml"/><Relationship Id="rId211" Type="http://schemas.openxmlformats.org/officeDocument/2006/relationships/slide" Target="slides/slide193.xml"/><Relationship Id="rId212" Type="http://schemas.openxmlformats.org/officeDocument/2006/relationships/slide" Target="slides/slide194.xml"/><Relationship Id="rId213" Type="http://schemas.openxmlformats.org/officeDocument/2006/relationships/slide" Target="slides/slide195.xml"/><Relationship Id="rId214" Type="http://schemas.openxmlformats.org/officeDocument/2006/relationships/slide" Target="slides/slide196.xml"/><Relationship Id="rId215" Type="http://schemas.openxmlformats.org/officeDocument/2006/relationships/slide" Target="slides/slide197.xml"/><Relationship Id="rId216" Type="http://schemas.openxmlformats.org/officeDocument/2006/relationships/slide" Target="slides/slide198.xml"/><Relationship Id="rId217" Type="http://schemas.openxmlformats.org/officeDocument/2006/relationships/slide" Target="slides/slide199.xml"/><Relationship Id="rId218" Type="http://schemas.openxmlformats.org/officeDocument/2006/relationships/slide" Target="slides/slide200.xml"/><Relationship Id="rId219" Type="http://schemas.openxmlformats.org/officeDocument/2006/relationships/slide" Target="slides/slide201.xml"/><Relationship Id="rId220" Type="http://schemas.openxmlformats.org/officeDocument/2006/relationships/slide" Target="slides/slide202.xml"/><Relationship Id="rId221" Type="http://schemas.openxmlformats.org/officeDocument/2006/relationships/slide" Target="slides/slide203.xml"/><Relationship Id="rId222" Type="http://schemas.openxmlformats.org/officeDocument/2006/relationships/slide" Target="slides/slide204.xml"/><Relationship Id="rId223" Type="http://schemas.openxmlformats.org/officeDocument/2006/relationships/slide" Target="slides/slide205.xml"/><Relationship Id="rId224" Type="http://schemas.openxmlformats.org/officeDocument/2006/relationships/slide" Target="slides/slide206.xml"/><Relationship Id="rId225" Type="http://schemas.openxmlformats.org/officeDocument/2006/relationships/slide" Target="slides/slide207.xml"/><Relationship Id="rId226" Type="http://schemas.openxmlformats.org/officeDocument/2006/relationships/slide" Target="slides/slide208.xml"/><Relationship Id="rId227" Type="http://schemas.openxmlformats.org/officeDocument/2006/relationships/slide" Target="slides/slide209.xml"/><Relationship Id="rId228" Type="http://schemas.openxmlformats.org/officeDocument/2006/relationships/slide" Target="slides/slide210.xml"/><Relationship Id="rId229" Type="http://schemas.openxmlformats.org/officeDocument/2006/relationships/slide" Target="slides/slide211.xml"/><Relationship Id="rId230" Type="http://schemas.openxmlformats.org/officeDocument/2006/relationships/slide" Target="slides/slide212.xml"/><Relationship Id="rId231" Type="http://schemas.openxmlformats.org/officeDocument/2006/relationships/slide" Target="slides/slide213.xml"/><Relationship Id="rId232" Type="http://schemas.openxmlformats.org/officeDocument/2006/relationships/slide" Target="slides/slide214.xml"/><Relationship Id="rId233" Type="http://schemas.openxmlformats.org/officeDocument/2006/relationships/slide" Target="slides/slide215.xml"/><Relationship Id="rId234" Type="http://schemas.openxmlformats.org/officeDocument/2006/relationships/slide" Target="slides/slide216.xml"/><Relationship Id="rId235" Type="http://schemas.openxmlformats.org/officeDocument/2006/relationships/slide" Target="slides/slide217.xml"/><Relationship Id="rId236" Type="http://schemas.openxmlformats.org/officeDocument/2006/relationships/slide" Target="slides/slide218.xml"/><Relationship Id="rId237" Type="http://schemas.openxmlformats.org/officeDocument/2006/relationships/slide" Target="slides/slide219.xml"/><Relationship Id="rId238" Type="http://schemas.openxmlformats.org/officeDocument/2006/relationships/slide" Target="slides/slide220.xml"/><Relationship Id="rId239" Type="http://schemas.openxmlformats.org/officeDocument/2006/relationships/slide" Target="slides/slide221.xml"/><Relationship Id="rId240" Type="http://schemas.openxmlformats.org/officeDocument/2006/relationships/slide" Target="slides/slide222.xml"/><Relationship Id="rId241" Type="http://schemas.openxmlformats.org/officeDocument/2006/relationships/slide" Target="slides/slide223.xml"/><Relationship Id="rId242" Type="http://schemas.openxmlformats.org/officeDocument/2006/relationships/slide" Target="slides/slide224.xml"/><Relationship Id="rId243" Type="http://schemas.openxmlformats.org/officeDocument/2006/relationships/slide" Target="slides/slide225.xml"/><Relationship Id="rId244" Type="http://schemas.openxmlformats.org/officeDocument/2006/relationships/slide" Target="slides/slide226.xml"/><Relationship Id="rId245" Type="http://schemas.openxmlformats.org/officeDocument/2006/relationships/slide" Target="slides/slide227.xml"/><Relationship Id="rId246" Type="http://schemas.openxmlformats.org/officeDocument/2006/relationships/slide" Target="slides/slide228.xml"/><Relationship Id="rId247" Type="http://schemas.openxmlformats.org/officeDocument/2006/relationships/slide" Target="slides/slide229.xml"/><Relationship Id="rId248" Type="http://schemas.openxmlformats.org/officeDocument/2006/relationships/slide" Target="slides/slide230.xml"/><Relationship Id="rId249" Type="http://schemas.openxmlformats.org/officeDocument/2006/relationships/slide" Target="slides/slide231.xml"/><Relationship Id="rId250" Type="http://schemas.openxmlformats.org/officeDocument/2006/relationships/slide" Target="slides/slide232.xml"/><Relationship Id="rId251" Type="http://schemas.openxmlformats.org/officeDocument/2006/relationships/slide" Target="slides/slide233.xml"/><Relationship Id="rId252" Type="http://schemas.openxmlformats.org/officeDocument/2006/relationships/slide" Target="slides/slide234.xml"/><Relationship Id="rId253" Type="http://schemas.openxmlformats.org/officeDocument/2006/relationships/slide" Target="slides/slide235.xml"/><Relationship Id="rId254" Type="http://schemas.openxmlformats.org/officeDocument/2006/relationships/slide" Target="slides/slide236.xml"/><Relationship Id="rId255" Type="http://schemas.openxmlformats.org/officeDocument/2006/relationships/slide" Target="slides/slide237.xml"/><Relationship Id="rId256" Type="http://schemas.openxmlformats.org/officeDocument/2006/relationships/slide" Target="slides/slide238.xml"/><Relationship Id="rId257" Type="http://schemas.openxmlformats.org/officeDocument/2006/relationships/slide" Target="slides/slide239.xml"/><Relationship Id="rId258" Type="http://schemas.openxmlformats.org/officeDocument/2006/relationships/slide" Target="slides/slide240.xml"/><Relationship Id="rId259" Type="http://schemas.openxmlformats.org/officeDocument/2006/relationships/slide" Target="slides/slide241.xml"/><Relationship Id="rId260" Type="http://schemas.openxmlformats.org/officeDocument/2006/relationships/slide" Target="slides/slide242.xml"/><Relationship Id="rId261" Type="http://schemas.openxmlformats.org/officeDocument/2006/relationships/slide" Target="slides/slide243.xml"/><Relationship Id="rId262" Type="http://schemas.openxmlformats.org/officeDocument/2006/relationships/slide" Target="slides/slide244.xml"/><Relationship Id="rId263" Type="http://schemas.openxmlformats.org/officeDocument/2006/relationships/slide" Target="slides/slide245.xml"/><Relationship Id="rId264" Type="http://schemas.openxmlformats.org/officeDocument/2006/relationships/slide" Target="slides/slide246.xml"/><Relationship Id="rId265" Type="http://schemas.openxmlformats.org/officeDocument/2006/relationships/slide" Target="slides/slide247.xml"/><Relationship Id="rId266" Type="http://schemas.openxmlformats.org/officeDocument/2006/relationships/slide" Target="slides/slide248.xml"/><Relationship Id="rId267" Type="http://schemas.openxmlformats.org/officeDocument/2006/relationships/slide" Target="slides/slide249.xml"/><Relationship Id="rId268" Type="http://schemas.openxmlformats.org/officeDocument/2006/relationships/slide" Target="slides/slide250.xml"/><Relationship Id="rId269" Type="http://schemas.openxmlformats.org/officeDocument/2006/relationships/slide" Target="slides/slide251.xml"/><Relationship Id="rId270" Type="http://schemas.openxmlformats.org/officeDocument/2006/relationships/slide" Target="slides/slide252.xml"/><Relationship Id="rId271" Type="http://schemas.openxmlformats.org/officeDocument/2006/relationships/slide" Target="slides/slide253.xml"/><Relationship Id="rId272" Type="http://schemas.openxmlformats.org/officeDocument/2006/relationships/slide" Target="slides/slide254.xml"/><Relationship Id="rId273" Type="http://schemas.openxmlformats.org/officeDocument/2006/relationships/slide" Target="slides/slide255.xml"/><Relationship Id="rId274" Type="http://schemas.openxmlformats.org/officeDocument/2006/relationships/slide" Target="slides/slide256.xml"/><Relationship Id="rId275" Type="http://schemas.openxmlformats.org/officeDocument/2006/relationships/slide" Target="slides/slide257.xml"/><Relationship Id="rId276" Type="http://schemas.openxmlformats.org/officeDocument/2006/relationships/slide" Target="slides/slide258.xml"/><Relationship Id="rId277" Type="http://schemas.openxmlformats.org/officeDocument/2006/relationships/slide" Target="slides/slide259.xml"/><Relationship Id="rId278" Type="http://schemas.openxmlformats.org/officeDocument/2006/relationships/slide" Target="slides/slide260.xml"/><Relationship Id="rId279" Type="http://schemas.openxmlformats.org/officeDocument/2006/relationships/slide" Target="slides/slide261.xml"/><Relationship Id="rId280" Type="http://schemas.openxmlformats.org/officeDocument/2006/relationships/slide" Target="slides/slide262.xml"/><Relationship Id="rId281" Type="http://schemas.openxmlformats.org/officeDocument/2006/relationships/slide" Target="slides/slide263.xml"/><Relationship Id="rId282" Type="http://schemas.openxmlformats.org/officeDocument/2006/relationships/slide" Target="slides/slide264.xml"/><Relationship Id="rId283" Type="http://schemas.openxmlformats.org/officeDocument/2006/relationships/slide" Target="slides/slide265.xml"/><Relationship Id="rId284" Type="http://schemas.openxmlformats.org/officeDocument/2006/relationships/slide" Target="slides/slide266.xml"/><Relationship Id="rId285" Type="http://schemas.openxmlformats.org/officeDocument/2006/relationships/slide" Target="slides/slide267.xml"/><Relationship Id="rId286" Type="http://schemas.openxmlformats.org/officeDocument/2006/relationships/slide" Target="slides/slide268.xml"/><Relationship Id="rId287" Type="http://schemas.openxmlformats.org/officeDocument/2006/relationships/slide" Target="slides/slide269.xml"/><Relationship Id="rId288" Type="http://schemas.openxmlformats.org/officeDocument/2006/relationships/slide" Target="slides/slide2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4.svg"/><Relationship Id="rId4" Type="http://schemas.microsoft.com/office/2007/relationships/media" Target="../media/aAHWjqQiDtc.m4a"/><Relationship Id="rId5" Type="http://schemas.openxmlformats.org/officeDocument/2006/relationships/audio" Target="../media/aAHWjqQiDtc.m4a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Relationship Id="rId4" Type="http://schemas.openxmlformats.org/officeDocument/2006/relationships/image" Target="../media/image16.png"/><Relationship Id="rId5" Type="http://schemas.openxmlformats.org/officeDocument/2006/relationships/image" Target="../media/image17.svg"/><Relationship Id="rId6" Type="http://schemas.openxmlformats.org/officeDocument/2006/relationships/image" Target="../media/image18.png"/><Relationship Id="rId7" Type="http://schemas.openxmlformats.org/officeDocument/2006/relationships/image" Target="../media/image1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3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5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5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48998" y="0"/>
            <a:ext cx="20385996" cy="20310215"/>
            <a:chOff x="0" y="0"/>
            <a:chExt cx="27181327" cy="270802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181302" cy="27080338"/>
            </a:xfrm>
            <a:custGeom>
              <a:avLst/>
              <a:gdLst/>
              <a:ahLst/>
              <a:cxnLst/>
              <a:rect r="r" b="b" t="t" l="l"/>
              <a:pathLst>
                <a:path h="27080338" w="27181302">
                  <a:moveTo>
                    <a:pt x="0" y="0"/>
                  </a:moveTo>
                  <a:lnTo>
                    <a:pt x="27181302" y="0"/>
                  </a:lnTo>
                  <a:lnTo>
                    <a:pt x="27181302" y="27080338"/>
                  </a:lnTo>
                  <a:lnTo>
                    <a:pt x="0" y="27080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449340">
            <a:off x="11439087" y="2249853"/>
            <a:ext cx="2690717" cy="2729932"/>
            <a:chOff x="0" y="0"/>
            <a:chExt cx="3587623" cy="36399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7623" cy="3639947"/>
            </a:xfrm>
            <a:custGeom>
              <a:avLst/>
              <a:gdLst/>
              <a:ahLst/>
              <a:cxnLst/>
              <a:rect r="r" b="b" t="t" l="l"/>
              <a:pathLst>
                <a:path h="3639947" w="3587623">
                  <a:moveTo>
                    <a:pt x="0" y="0"/>
                  </a:moveTo>
                  <a:lnTo>
                    <a:pt x="3587623" y="0"/>
                  </a:lnTo>
                  <a:lnTo>
                    <a:pt x="3587623" y="3639947"/>
                  </a:lnTo>
                  <a:lnTo>
                    <a:pt x="0" y="36399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87478" y="3373193"/>
            <a:ext cx="1708756" cy="1770307"/>
            <a:chOff x="0" y="0"/>
            <a:chExt cx="2278342" cy="23604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8380" cy="2360422"/>
            </a:xfrm>
            <a:custGeom>
              <a:avLst/>
              <a:gdLst/>
              <a:ahLst/>
              <a:cxnLst/>
              <a:rect r="r" b="b" t="t" l="l"/>
              <a:pathLst>
                <a:path h="2360422" w="2278380">
                  <a:moveTo>
                    <a:pt x="0" y="0"/>
                  </a:moveTo>
                  <a:lnTo>
                    <a:pt x="2278380" y="0"/>
                  </a:lnTo>
                  <a:lnTo>
                    <a:pt x="2278380" y="2360422"/>
                  </a:lnTo>
                  <a:lnTo>
                    <a:pt x="0" y="2360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104640">
            <a:off x="5337448" y="4083691"/>
            <a:ext cx="6422965" cy="962273"/>
            <a:chOff x="0" y="0"/>
            <a:chExt cx="8563953" cy="12830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63991" cy="1283081"/>
            </a:xfrm>
            <a:custGeom>
              <a:avLst/>
              <a:gdLst/>
              <a:ahLst/>
              <a:cxnLst/>
              <a:rect r="r" b="b" t="t" l="l"/>
              <a:pathLst>
                <a:path h="1283081" w="8563991">
                  <a:moveTo>
                    <a:pt x="0" y="0"/>
                  </a:moveTo>
                  <a:lnTo>
                    <a:pt x="8563991" y="0"/>
                  </a:lnTo>
                  <a:lnTo>
                    <a:pt x="8563991" y="1283081"/>
                  </a:lnTo>
                  <a:lnTo>
                    <a:pt x="0" y="1283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-1920840">
            <a:off x="6395364" y="1083063"/>
            <a:ext cx="10847956" cy="296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12"/>
              </a:lnSpc>
            </a:pPr>
            <a:r>
              <a:rPr lang="en-US" sz="7937">
                <a:solidFill>
                  <a:srgbClr val="000000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더 </a:t>
            </a:r>
          </a:p>
          <a:p>
            <a:pPr algn="ctr">
              <a:lnSpc>
                <a:spcPts val="11112"/>
              </a:lnSpc>
            </a:pPr>
            <a:r>
              <a:rPr lang="en-US" sz="7937">
                <a:solidFill>
                  <a:srgbClr val="000000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선뙈기후: 온대기후방 </a:t>
            </a:r>
          </a:p>
        </p:txBody>
      </p:sp>
      <p:pic>
        <p:nvPicPr>
          <p:cNvPr name="Picture 11" id="11">
            <a:hlinkClick action="ppaction://media"/>
          </p:cNvPr>
          <p:cNvPicPr>
            <a:picLocks noChangeAspect="true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11"/>
                </p:tgtEl>
              </p:cBhvr>
            </p:cmd>
            <p:audio>
              <p:cMediaNode vol="400000" showWhenStopped="false">
                <p:cTn repeatCount="indefinite"/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B3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59080"/>
            <a:ext cx="16109013" cy="853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여기서 잠깐!</a:t>
            </a:r>
          </a:p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  온대기후에 대해 먼저 배우고 갑시다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g-01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29222" y="1463564"/>
            <a:ext cx="3519106" cy="6805136"/>
            <a:chOff x="0" y="0"/>
            <a:chExt cx="4692142" cy="90735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92142" cy="9073515"/>
            </a:xfrm>
            <a:custGeom>
              <a:avLst/>
              <a:gdLst/>
              <a:ahLst/>
              <a:cxnLst/>
              <a:rect r="r" b="b" t="t" l="l"/>
              <a:pathLst>
                <a:path h="9073515" w="4692142">
                  <a:moveTo>
                    <a:pt x="0" y="0"/>
                  </a:moveTo>
                  <a:lnTo>
                    <a:pt x="4692142" y="0"/>
                  </a:lnTo>
                  <a:lnTo>
                    <a:pt x="4692142" y="9073515"/>
                  </a:lnTo>
                  <a:lnTo>
                    <a:pt x="0" y="9073515"/>
                  </a:lnTo>
                  <a:close/>
                </a:path>
              </a:pathLst>
            </a:custGeom>
            <a:blipFill>
              <a:blip r:embed="rId4"/>
              <a:stretch>
                <a:fillRect l="0" t="-1311" r="0" b="-13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89912" y="1463564"/>
            <a:ext cx="3338894" cy="5350954"/>
            <a:chOff x="0" y="0"/>
            <a:chExt cx="4451858" cy="7134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51858" cy="7134606"/>
            </a:xfrm>
            <a:custGeom>
              <a:avLst/>
              <a:gdLst/>
              <a:ahLst/>
              <a:cxnLst/>
              <a:rect r="r" b="b" t="t" l="l"/>
              <a:pathLst>
                <a:path h="7134606" w="4451858">
                  <a:moveTo>
                    <a:pt x="0" y="0"/>
                  </a:moveTo>
                  <a:lnTo>
                    <a:pt x="4451858" y="0"/>
                  </a:lnTo>
                  <a:lnTo>
                    <a:pt x="4451858" y="7134606"/>
                  </a:lnTo>
                  <a:lnTo>
                    <a:pt x="0" y="7134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2376" t="0" r="-9237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52564" y="1358656"/>
            <a:ext cx="3820039" cy="5455815"/>
            <a:chOff x="0" y="0"/>
            <a:chExt cx="5093386" cy="72744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3335" cy="7274433"/>
            </a:xfrm>
            <a:custGeom>
              <a:avLst/>
              <a:gdLst/>
              <a:ahLst/>
              <a:cxnLst/>
              <a:rect r="r" b="b" t="t" l="l"/>
              <a:pathLst>
                <a:path h="7274433" w="5093335">
                  <a:moveTo>
                    <a:pt x="0" y="0"/>
                  </a:moveTo>
                  <a:lnTo>
                    <a:pt x="5093335" y="0"/>
                  </a:lnTo>
                  <a:lnTo>
                    <a:pt x="5093335" y="7274433"/>
                  </a:lnTo>
                  <a:lnTo>
                    <a:pt x="0" y="7274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952" t="0" r="-76953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g-03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g-04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g-05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g-06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g-08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g-09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g-11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g-12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35840" y="-182880"/>
            <a:ext cx="4937760" cy="5222053"/>
            <a:chOff x="0" y="0"/>
            <a:chExt cx="6583680" cy="6962737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583680" cy="6962775"/>
            </a:xfrm>
            <a:custGeom>
              <a:avLst/>
              <a:gdLst/>
              <a:ahLst/>
              <a:cxnLst/>
              <a:rect r="r" b="b" t="t" l="l"/>
              <a:pathLst>
                <a:path h="696277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962775"/>
                  </a:lnTo>
                  <a:lnTo>
                    <a:pt x="0" y="6962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80160" y="2139315"/>
            <a:ext cx="11887200" cy="151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2"/>
              </a:lnSpc>
            </a:pPr>
            <a:r>
              <a:rPr lang="en-US" sz="6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온대기후에 대해 잘 알게 되었으니…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0160" y="3728085"/>
            <a:ext cx="11887200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8"/>
              </a:lnSpc>
            </a:pPr>
            <a:r>
              <a:rPr lang="en-US"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이제 </a:t>
            </a:r>
            <a:r>
              <a:rPr lang="en-US" sz="84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본격적으로</a:t>
            </a:r>
            <a:r>
              <a:rPr lang="en-US"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 시작해 볼까요?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80160" y="6652260"/>
            <a:ext cx="11887200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※ 지금부터 배운 내용이 탈출의 열쇠가 됩니다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070769" cy="6151569"/>
          </a:xfrm>
          <a:custGeom>
            <a:avLst/>
            <a:gdLst/>
            <a:ahLst/>
            <a:cxnLst/>
            <a:rect r="r" b="b" t="t" l="l"/>
            <a:pathLst>
              <a:path h="6151569" w="7070769">
                <a:moveTo>
                  <a:pt x="0" y="0"/>
                </a:moveTo>
                <a:lnTo>
                  <a:pt x="7070769" y="0"/>
                </a:lnTo>
                <a:lnTo>
                  <a:pt x="7070769" y="6151569"/>
                </a:lnTo>
                <a:lnTo>
                  <a:pt x="0" y="61515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5" r="0" b="-4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94662" y="4532157"/>
            <a:ext cx="9542364" cy="7872451"/>
          </a:xfrm>
          <a:custGeom>
            <a:avLst/>
            <a:gdLst/>
            <a:ahLst/>
            <a:cxnLst/>
            <a:rect r="r" b="b" t="t" l="l"/>
            <a:pathLst>
              <a:path h="7872451" w="9542364">
                <a:moveTo>
                  <a:pt x="0" y="0"/>
                </a:moveTo>
                <a:lnTo>
                  <a:pt x="9542364" y="0"/>
                </a:lnTo>
                <a:lnTo>
                  <a:pt x="9542364" y="7872451"/>
                </a:lnTo>
                <a:lnTo>
                  <a:pt x="0" y="78724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8" t="0" r="-7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52950" y="0"/>
            <a:ext cx="4637380" cy="4907280"/>
          </a:xfrm>
          <a:custGeom>
            <a:avLst/>
            <a:gdLst/>
            <a:ahLst/>
            <a:cxnLst/>
            <a:rect r="r" b="b" t="t" l="l"/>
            <a:pathLst>
              <a:path h="4907280" w="4637380">
                <a:moveTo>
                  <a:pt x="0" y="0"/>
                </a:moveTo>
                <a:lnTo>
                  <a:pt x="4637380" y="0"/>
                </a:lnTo>
                <a:lnTo>
                  <a:pt x="4637380" y="4907280"/>
                </a:lnTo>
                <a:lnTo>
                  <a:pt x="0" y="49072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9" t="0" r="-3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360000">
            <a:off x="-41817" y="1305212"/>
            <a:ext cx="18288000" cy="3726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0"/>
              </a:lnSpc>
            </a:pPr>
            <a:r>
              <a:rPr lang="en-US" sz="23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콰아악!</a:t>
            </a:r>
          </a:p>
        </p:txBody>
      </p:sp>
      <p:sp>
        <p:nvSpPr>
          <p:cNvPr name="TextBox 6" id="6"/>
          <p:cNvSpPr txBox="true"/>
          <p:nvPr/>
        </p:nvSpPr>
        <p:spPr>
          <a:xfrm rot="240000">
            <a:off x="20597" y="5170889"/>
            <a:ext cx="18288000" cy="278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40"/>
              </a:lnSpc>
            </a:pPr>
            <a:r>
              <a:rPr lang="en-US" sz="17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쾅!!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2B3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276475"/>
            <a:ext cx="18288000" cy="266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59"/>
              </a:lnSpc>
            </a:pPr>
            <a:r>
              <a:rPr lang="en-US" sz="12999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어…? 여기는 어디지?!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5545455"/>
            <a:ext cx="182880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36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문이 잠겨 있다… 무언가를 풀어야만 나갈 수 있을 것 같다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4400" y="5120640"/>
            <a:ext cx="6400800" cy="5567362"/>
            <a:chOff x="0" y="0"/>
            <a:chExt cx="8534400" cy="74231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8534400" cy="7423150"/>
            </a:xfrm>
            <a:custGeom>
              <a:avLst/>
              <a:gdLst/>
              <a:ahLst/>
              <a:cxnLst/>
              <a:rect r="r" b="b" t="t" l="l"/>
              <a:pathLst>
                <a:path h="742315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423150"/>
                  </a:lnTo>
                  <a:lnTo>
                    <a:pt x="0" y="7423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898880" y="-182880"/>
            <a:ext cx="3840480" cy="4061603"/>
            <a:chOff x="0" y="0"/>
            <a:chExt cx="5120640" cy="541547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5120640" cy="5415407"/>
            </a:xfrm>
            <a:custGeom>
              <a:avLst/>
              <a:gdLst/>
              <a:ahLst/>
              <a:cxnLst/>
              <a:rect r="r" b="b" t="t" l="l"/>
              <a:pathLst>
                <a:path h="5415407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15407"/>
                  </a:lnTo>
                  <a:lnTo>
                    <a:pt x="0" y="5415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1392555"/>
            <a:ext cx="182880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44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ESCAPE ROOM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127885"/>
            <a:ext cx="18288000" cy="253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0"/>
              </a:lnSpc>
            </a:pPr>
            <a:r>
              <a:rPr lang="en-US" sz="15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더 선뙈기후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4493895"/>
            <a:ext cx="18288000" cy="181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99"/>
              </a:lnSpc>
            </a:pPr>
            <a:r>
              <a:rPr lang="en-US" sz="9999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: 온대기후방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7172325"/>
            <a:ext cx="182880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3999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  <a:sym typeface="Black and White Picture"/>
              </a:rPr>
              <a:t>7개의 방을 모두 통과하고, 살아서 탈출하라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0" y="-182880"/>
            <a:ext cx="3474720" cy="36747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40080"/>
            <a:ext cx="1280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6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탈출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총 7개의 방 · 방을 하나씩 통과하며 열쇠 조각을 모아라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5486400" cy="6309360"/>
          </a:xfrm>
          <a:prstGeom prst="roundRect">
            <a:avLst>
              <a:gd name="adj" fmla="val 8000"/>
            </a:avLst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art 5"/>
          <p:cNvSpPr/>
          <p:nvPr/>
        </p:nvSpPr>
        <p:spPr>
          <a:xfrm>
            <a:off x="2331720" y="3474720"/>
            <a:ext cx="2651760" cy="2386584"/>
          </a:xfrm>
          <a:prstGeom prst="heart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548640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시작 생명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722376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모든 참가자는</a:t>
            </a:r>
          </a:p>
          <a:p>
            <a:pPr algn="ctr">
              <a:lnSpc>
                <a:spcPct val="110000"/>
              </a:lnSpc>
            </a:pPr>
            <a:r>
              <a:rPr sz="30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생명 15개로 시작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017520"/>
            <a:ext cx="10424160" cy="1115568"/>
          </a:xfrm>
          <a:prstGeom prst="roundRect">
            <a:avLst>
              <a:gd name="adj" fmla="val 15000"/>
            </a:avLst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23760" y="3236976"/>
            <a:ext cx="685800" cy="685800"/>
          </a:xfrm>
          <a:prstGeom prst="ellipse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236976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108960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생명 감소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584448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실패 · 함정 · 오답 → 생명이 줄어든다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4297679"/>
            <a:ext cx="10424160" cy="1115568"/>
          </a:xfrm>
          <a:prstGeom prst="roundRect">
            <a:avLst>
              <a:gd name="adj" fmla="val 15000"/>
            </a:avLst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4517136"/>
            <a:ext cx="685800" cy="685800"/>
          </a:xfrm>
          <a:prstGeom prst="ellipse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4517136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389119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열쇠 조각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864607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방을 하나 통과할 때마다 열쇠 조각 1개 획득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5577840"/>
            <a:ext cx="10424160" cy="1115568"/>
          </a:xfrm>
          <a:prstGeom prst="roundRect">
            <a:avLst>
              <a:gd name="adj" fmla="val 15000"/>
            </a:avLst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23760" y="5797296"/>
            <a:ext cx="685800" cy="685800"/>
          </a:xfrm>
          <a:prstGeom prst="ellipse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5797296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669279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탈출 성공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144768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조각 7개로 문을 열고, 생명이 1개 이상이면 탈출!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6857999"/>
            <a:ext cx="10424160" cy="1115568"/>
          </a:xfrm>
          <a:prstGeom prst="roundRect">
            <a:avLst>
              <a:gd name="adj" fmla="val 15000"/>
            </a:avLst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23760" y="7077455"/>
            <a:ext cx="685800" cy="685800"/>
          </a:xfrm>
          <a:prstGeom prst="ellipse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7077455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949439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탈락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7424927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생명이 0개가 되면 그 자리에서 탈출 실패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0" y="8138159"/>
            <a:ext cx="10424160" cy="1115568"/>
          </a:xfrm>
          <a:prstGeom prst="roundRect">
            <a:avLst>
              <a:gd name="adj" fmla="val 15000"/>
            </a:avLst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23760" y="8357615"/>
            <a:ext cx="685800" cy="685800"/>
          </a:xfrm>
          <a:prstGeom prst="ellipse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8357615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8229599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순위 결정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8705087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탈출 성공자끼리는 남은 생명이 많을수록 높은 순위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6642080" cy="8823960"/>
          </a:xfrm>
          <a:prstGeom prst="roundRect">
            <a:avLst>
              <a:gd name="adj" fmla="val 5000"/>
            </a:avLst>
          </a:prstGeom>
          <a:noFill/>
          <a:ln w="1016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2194560" cy="731520"/>
          </a:xfrm>
          <a:prstGeom prst="roundRect">
            <a:avLst>
              <a:gd name="adj" fmla="val 30000"/>
            </a:avLst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오늘의 짤</a:t>
            </a:r>
          </a:p>
        </p:txBody>
      </p:sp>
      <p:sp>
        <p:nvSpPr>
          <p:cNvPr id="5" name="Explosion 4"/>
          <p:cNvSpPr/>
          <p:nvPr/>
        </p:nvSpPr>
        <p:spPr>
          <a:xfrm rot="480000">
            <a:off x="13990320" y="1005840"/>
            <a:ext cx="3108960" cy="2377440"/>
          </a:xfrm>
          <a:prstGeom prst="irregularSeal1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480000">
            <a:off x="13990320" y="1005840"/>
            <a:ext cx="31089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>
                <a:solidFill>
                  <a:srgbClr val="111111"/>
                </a:solidFill>
                <a:latin typeface="Black and White Picture"/>
                <a:ea typeface="Black and White Picture"/>
                <a:cs typeface="Black and White Picture"/>
              </a:rPr>
              <a:t>GO!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017520"/>
            <a:ext cx="1426464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>
                <a:ln w="88900">
                  <a:solidFill>
                    <a:srgbClr val="111111"/>
                  </a:solidFill>
                </a:ln>
                <a:solidFill>
                  <a:srgbClr val="FFE14D"/>
                </a:solidFill>
                <a:latin typeface="Black and White Picture"/>
                <a:ea typeface="Black and White Picture"/>
                <a:cs typeface="Black and White Picture"/>
              </a:rPr>
              <a:t>자~ 드가자~!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315200"/>
            <a:ext cx="14264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ln w="50800">
                  <a:solidFill>
                    <a:srgbClr val="111111"/>
                  </a:solidFill>
                </a:ln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생명 15개 챙겼지? 이제 진짜 시작이다</a:t>
            </a:r>
          </a:p>
        </p:txBody>
      </p:sp>
    </p:spTree>
  </p:cSld>
  <p:clrMapOvr>
    <a:masterClrMapping/>
  </p:clrMapOvr>
  <p:transition spd="slow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97280"/>
            <a:ext cx="18288000" cy="27432000"/>
          </a:xfrm>
          <a:prstGeom prst="rect">
            <a:avLst/>
          </a:prstGeom>
        </p:spPr>
      </p:pic>
      <p:sp>
        <p:nvSpPr>
          <p:cNvPr id="3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door" descr="image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097280"/>
            <a:ext cx="4315968" cy="8321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2103120"/>
            <a:ext cx="8595360" cy="5120640"/>
          </a:xfrm>
          <a:prstGeom prst="roundRect">
            <a:avLst>
              <a:gd name="adj" fmla="val 8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ROOM 1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넌센스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309360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웃음 참기 금지! 말장난의 방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97280"/>
            <a:ext cx="18288000" cy="27432000"/>
          </a:xfrm>
          <a:prstGeom prst="rect">
            <a:avLst/>
          </a:prstGeom>
        </p:spPr>
      </p:pic>
      <p:sp>
        <p:nvSpPr>
          <p:cNvPr id="3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FFF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4389120"/>
            <a:ext cx="3767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0">
                <a:solidFill>
                  <a:srgbClr val="C4121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5" name="!!door" descr="image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1325880"/>
            <a:ext cx="1143000" cy="8138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2103120"/>
            <a:ext cx="8595360" cy="5120640"/>
          </a:xfrm>
          <a:prstGeom prst="roundRect">
            <a:avLst>
              <a:gd name="adj" fmla="val 8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ROOM 1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끼이이익…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7680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문이 열렸다! 안으로 들어가자</a:t>
            </a:r>
          </a:p>
        </p:txBody>
      </p:sp>
    </p:spTree>
  </p:cSld>
  <p:clrMapOvr>
    <a:masterClrMapping/>
  </p:clrMapOvr>
  <p:transition spd="slow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0" y="-182880"/>
            <a:ext cx="3474720" cy="3674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828800"/>
            <a:ext cx="1280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넌센스 방의 규칙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문제는 총 10개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말장난으로 푸는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넌센스 퀴즈 10문제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700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276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76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답은 종이에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276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문제가 나오면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답을 종이에 적는다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3104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9680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2B3A42"/>
                </a:solidFill>
                <a:latin typeface="Black and White Picture"/>
                <a:ea typeface="Black and White Picture"/>
                <a:cs typeface="Black and White Pictur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9680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2B3A42"/>
                </a:solidFill>
                <a:latin typeface="Black and White Picture"/>
                <a:ea typeface="Black and White Picture"/>
                <a:cs typeface="Black and White Picture"/>
              </a:rPr>
              <a:t>틀리면 오답!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9680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2B3A42"/>
                </a:solidFill>
                <a:latin typeface="Black and White Picture"/>
                <a:ea typeface="Black and White Picture"/>
                <a:cs typeface="Black and White Picture"/>
              </a:rPr>
              <a:t>답이 틀리면 오답 처리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2B3A42"/>
                </a:solidFill>
                <a:latin typeface="Black and White Picture"/>
                <a:ea typeface="Black and White Picture"/>
                <a:cs typeface="Black and White Picture"/>
              </a:rPr>
              <a:t>생명 1개 감소</a:t>
            </a:r>
          </a:p>
        </p:txBody>
      </p:sp>
      <p:sp>
        <p:nvSpPr>
          <p:cNvPr id="18" name="Heart 17"/>
          <p:cNvSpPr/>
          <p:nvPr/>
        </p:nvSpPr>
        <p:spPr>
          <a:xfrm>
            <a:off x="822960" y="8915400"/>
            <a:ext cx="502920" cy="452628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8869680"/>
            <a:ext cx="1554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이번엔 초성 대신 글자 수 힌트만! 머리를 말랑하게</a:t>
            </a:r>
          </a:p>
        </p:txBody>
      </p:sp>
    </p:spTree>
  </p:cSld>
  <p:clrMapOvr>
    <a:masterClrMapping/>
  </p:clrMapOvr>
  <p:transition spd="slow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Q1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0" y="-182880"/>
            <a:ext cx="3474720" cy="3674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세상에서 가장 가난한 왕은?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4글자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정답 1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0"/>
            <a:ext cx="7498079" cy="6521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Q1. 세상에서 가장 가난한 왕은?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최저임금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최저 + 임금(王) = 가장 가난한 왕!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rt 9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Q2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0" y="-182880"/>
            <a:ext cx="3474720" cy="3674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바나나가 웃으면?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4글자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정답 2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0"/>
            <a:ext cx="7498079" cy="6521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Q2. 바나나가 웃으면?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바나나킥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바나나가 "킥킥" 웃어서 바나나킥!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rt 9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Q3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0" y="-182880"/>
            <a:ext cx="3474720" cy="3674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세상에서 가장 억울한 도형은?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2글자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정답 3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0"/>
            <a:ext cx="7498079" cy="6521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Q3. 세상에서 가장 억울한 도형은?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원통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"원통하다" = 억울하다!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rt 9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Q4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0" y="-182880"/>
            <a:ext cx="3474720" cy="3674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차가 놀라면?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4글자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정답 4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0"/>
            <a:ext cx="7498079" cy="6521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Q4. 차가 놀라면?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카놀라유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카(Car)가 놀라유~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rt 9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Q5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0" y="-182880"/>
            <a:ext cx="3474720" cy="3674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Q5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오리가 얼면?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2글자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정답 5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0"/>
            <a:ext cx="7498079" cy="6521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Q5. 오리가 얼면?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언덕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언(얼은) + 덕(Duck, 오리)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rt 9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6642080" cy="8823960"/>
          </a:xfrm>
          <a:prstGeom prst="roundRect">
            <a:avLst>
              <a:gd name="adj" fmla="val 5000"/>
            </a:avLst>
          </a:prstGeom>
          <a:noFill/>
          <a:ln w="1016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2194560" cy="731520"/>
          </a:xfrm>
          <a:prstGeom prst="roundRect">
            <a:avLst>
              <a:gd name="adj" fmla="val 30000"/>
            </a:avLst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오늘의 짤</a:t>
            </a:r>
          </a:p>
        </p:txBody>
      </p:sp>
      <p:sp>
        <p:nvSpPr>
          <p:cNvPr id="5" name="Explosion 4"/>
          <p:cNvSpPr/>
          <p:nvPr/>
        </p:nvSpPr>
        <p:spPr>
          <a:xfrm rot="480000">
            <a:off x="13990320" y="1005840"/>
            <a:ext cx="3108960" cy="2377440"/>
          </a:xfrm>
          <a:prstGeom prst="irregularSeal1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480000">
            <a:off x="13990320" y="1005840"/>
            <a:ext cx="31089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>
                <a:solidFill>
                  <a:srgbClr val="111111"/>
                </a:solidFill>
                <a:latin typeface="Black and White Picture"/>
                <a:ea typeface="Black and White Picture"/>
                <a:cs typeface="Black and White Picture"/>
              </a:rPr>
              <a:t>ㅋㅋㅋ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017520"/>
            <a:ext cx="1426464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>
                <a:ln w="88900">
                  <a:solidFill>
                    <a:srgbClr val="111111"/>
                  </a:solidFill>
                </a:ln>
                <a:solidFill>
                  <a:srgbClr val="FFE14D"/>
                </a:solidFill>
                <a:latin typeface="Black and White Picture"/>
                <a:ea typeface="Black and White Picture"/>
                <a:cs typeface="Black and White Picture"/>
              </a:rPr>
              <a:t>킹받쥬?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315200"/>
            <a:ext cx="14264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ln w="50800">
                  <a:solidFill>
                    <a:srgbClr val="111111"/>
                  </a:solidFill>
                </a:ln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넌센스는 원래 킹받는 맛</a:t>
            </a:r>
          </a:p>
        </p:txBody>
      </p:sp>
    </p:spTree>
  </p:cSld>
  <p:clrMapOvr>
    <a:masterClrMapping/>
  </p:clrMapOvr>
  <p:transition spd="slow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Q6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0" y="-182880"/>
            <a:ext cx="3474720" cy="3674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Q6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자동차를 톡 치면?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2글자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정답 6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0"/>
            <a:ext cx="7498079" cy="6521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Q6. 자동차를 톡 치면?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카톡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카(Car) + 톡!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rt 9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Q7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0" y="-182880"/>
            <a:ext cx="3474720" cy="3674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Q7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세상에서 가장 추운 바다는?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3글자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정답 7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0"/>
            <a:ext cx="7498079" cy="6521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Q7. 세상에서 가장 추운 바다는?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썰렁해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썰렁 + 해(海, 바다)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rt 9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Q8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0" y="-182880"/>
            <a:ext cx="3474720" cy="3674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Q8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왕이 궁에 들어가기 싫을 때</a:t>
            </a:r>
          </a:p>
          <a:p>
            <a:pPr algn="l">
              <a:lnSpc>
                <a:spcPct val="100000"/>
              </a:lnSpc>
            </a:pPr>
            <a:r>
              <a:rPr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하는 말은?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6글자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정답 8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0"/>
            <a:ext cx="7498079" cy="6521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Q8. 왕이 궁에 들어가기 싫을 때 하는 말은?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궁시렁궁시렁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궁에 가기 싫어서 궁시렁궁시렁…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rt 9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Q9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0" y="-182880"/>
            <a:ext cx="3474720" cy="3674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Q9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개가 사람을 가르치면?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4글자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정답 9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0"/>
            <a:ext cx="7498079" cy="6521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Q9. 개가 사람을 가르치면?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개인지도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개 + 인(사람) + 지도!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rt 9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Q10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0" y="-182880"/>
            <a:ext cx="3474720" cy="3674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Q10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신사가 자기소개할 때</a:t>
            </a:r>
          </a:p>
          <a:p>
            <a:pPr algn="l">
              <a:lnSpc>
                <a:spcPct val="100000"/>
              </a:lnSpc>
            </a:pPr>
            <a:r>
              <a:rPr sz="8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하는 말은?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4글자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1번째 방 · 넌센스   정답 10 / 10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0"/>
            <a:ext cx="7498079" cy="65217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9B4BA"/>
                </a:solidFill>
                <a:latin typeface="Black and White Picture"/>
                <a:ea typeface="Black and White Picture"/>
                <a:cs typeface="Black and White Picture"/>
              </a:rPr>
              <a:t>Q10. 신사가 자기소개할 때 하는 말은?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신사임당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"신사입니다~" = 신사임당!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C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rt 9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4EADC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1번째 방 클리어!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8288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열쇠 조각 1 획득!</a:t>
            </a:r>
          </a:p>
        </p:txBody>
      </p:sp>
      <p:sp>
        <p:nvSpPr>
          <p:cNvPr id="4" name="Oval 3"/>
          <p:cNvSpPr/>
          <p:nvPr/>
        </p:nvSpPr>
        <p:spPr>
          <a:xfrm>
            <a:off x="6766560" y="3749039"/>
            <a:ext cx="1806854" cy="180685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08616" y="4291096"/>
            <a:ext cx="722741" cy="722741"/>
          </a:xfrm>
          <a:prstGeom prst="ellipse">
            <a:avLst/>
          </a:prstGeom>
          <a:solidFill>
            <a:srgbClr val="15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83071" y="4507918"/>
            <a:ext cx="3038368" cy="2890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90073" y="4742809"/>
            <a:ext cx="332841" cy="5420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50854" y="4742809"/>
            <a:ext cx="332841" cy="722741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901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901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475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832104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>
                <a:solidFill>
                  <a:srgbClr val="C9BD98"/>
                </a:solidFill>
                <a:latin typeface="Black and White Picture"/>
                <a:ea typeface="Black and White Picture"/>
                <a:cs typeface="Black and White Picture"/>
              </a:rPr>
              <a:t>모은 조각 1 / 7  ·  다음 방으로 이동!</a:t>
            </a:r>
          </a:p>
        </p:txBody>
      </p:sp>
    </p:spTree>
  </p:cSld>
  <p:clrMapOvr>
    <a:masterClrMapping/>
  </p:clrMapOvr>
  <p:transition spd="slow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0"/>
            <a:ext cx="18288000" cy="1143000"/>
          </a:xfrm>
          <a:prstGeom prst="rect">
            <a:avLst/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door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97280"/>
            <a:ext cx="4315968" cy="8321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92640" y="91440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0">
                <a:solidFill>
                  <a:srgbClr val="FF3EA5"/>
                </a:solidFill>
                <a:latin typeface="Arial"/>
                <a:ea typeface="Arial"/>
                <a:cs typeface="Arial"/>
              </a:rPr>
              <a:t>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93440" y="146304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0">
                <a:solidFill>
                  <a:srgbClr val="3EE6FF"/>
                </a:solidFill>
                <a:latin typeface="Arial"/>
                <a:ea typeface="Arial"/>
                <a:cs typeface="Arial"/>
              </a:rPr>
              <a:t>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0" y="502920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>
                <a:solidFill>
                  <a:srgbClr val="FF3EA5"/>
                </a:solidFill>
                <a:latin typeface="Arial"/>
                <a:ea typeface="Arial"/>
                <a:cs typeface="Arial"/>
              </a:rPr>
              <a:t>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731520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3EE6FF"/>
                </a:solidFill>
                <a:latin typeface="Arial"/>
                <a:ea typeface="Arial"/>
                <a:cs typeface="Arial"/>
              </a:rPr>
              <a:t>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27080" y="868680"/>
            <a:ext cx="4773168" cy="8549640"/>
          </a:xfrm>
          <a:prstGeom prst="roundRect">
            <a:avLst>
              <a:gd name="adj" fmla="val 4000"/>
            </a:avLst>
          </a:prstGeom>
          <a:noFill/>
          <a:ln w="7620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103120"/>
            <a:ext cx="8595360" cy="5120640"/>
          </a:xfrm>
          <a:prstGeom prst="roundRect">
            <a:avLst>
              <a:gd name="adj" fmla="val 8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B9A6E0"/>
                </a:solidFill>
                <a:latin typeface="Black and White Picture"/>
                <a:ea typeface="Black and White Picture"/>
                <a:cs typeface="Black and White Picture"/>
              </a:rPr>
              <a:t>ROOM 2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7472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2번째 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292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노래 퀴즈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309360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>
                <a:solidFill>
                  <a:srgbClr val="B9A6E0"/>
                </a:solidFill>
                <a:latin typeface="Black and White Picture"/>
                <a:ea typeface="Black and White Picture"/>
                <a:cs typeface="Black and White Picture"/>
              </a:rPr>
              <a:t>전주만 듣고 맞혀라! 네온 노래방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0"/>
            <a:ext cx="18288000" cy="1143000"/>
          </a:xfrm>
          <a:prstGeom prst="rect">
            <a:avLst/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FFF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4389120"/>
            <a:ext cx="3767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0">
                <a:solidFill>
                  <a:srgbClr val="FF3EA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5" name="!!door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325880"/>
            <a:ext cx="1143000" cy="8138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92640" y="91440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0">
                <a:solidFill>
                  <a:srgbClr val="FF3EA5"/>
                </a:solidFill>
                <a:latin typeface="Arial"/>
                <a:ea typeface="Arial"/>
                <a:cs typeface="Arial"/>
              </a:rPr>
              <a:t>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93440" y="146304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0">
                <a:solidFill>
                  <a:srgbClr val="3EE6FF"/>
                </a:solidFill>
                <a:latin typeface="Arial"/>
                <a:ea typeface="Arial"/>
                <a:cs typeface="Arial"/>
              </a:rPr>
              <a:t>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0" y="502920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>
                <a:solidFill>
                  <a:srgbClr val="FF3EA5"/>
                </a:solidFill>
                <a:latin typeface="Arial"/>
                <a:ea typeface="Arial"/>
                <a:cs typeface="Arial"/>
              </a:rPr>
              <a:t>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731520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3EE6FF"/>
                </a:solidFill>
                <a:latin typeface="Arial"/>
                <a:ea typeface="Arial"/>
                <a:cs typeface="Arial"/>
              </a:rPr>
              <a:t>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7080" y="868680"/>
            <a:ext cx="4773168" cy="8549640"/>
          </a:xfrm>
          <a:prstGeom prst="roundRect">
            <a:avLst>
              <a:gd name="adj" fmla="val 4000"/>
            </a:avLst>
          </a:prstGeom>
          <a:noFill/>
          <a:ln w="7620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103120"/>
            <a:ext cx="8595360" cy="5120640"/>
          </a:xfrm>
          <a:prstGeom prst="roundRect">
            <a:avLst>
              <a:gd name="adj" fmla="val 8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5603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B9A6E0"/>
                </a:solidFill>
                <a:latin typeface="Black and White Picture"/>
                <a:ea typeface="Black and White Picture"/>
                <a:cs typeface="Black and White Picture"/>
              </a:rPr>
              <a:t>ROOM 2 /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7472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끼이이익…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7680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문이 열렸다! 안으로 들어가자</a:t>
            </a:r>
          </a:p>
        </p:txBody>
      </p:sp>
    </p:spTree>
  </p:cSld>
  <p:clrMapOvr>
    <a:masterClrMapping/>
  </p:clrMapOvr>
  <p:transition spd="slow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2번째 방 · 노래 퀴즈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0" y="365760"/>
            <a:ext cx="1645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>
                <a:solidFill>
                  <a:srgbClr val="FF3EA5"/>
                </a:solidFill>
                <a:latin typeface="Arial"/>
                <a:ea typeface="Arial"/>
                <a:cs typeface="Arial"/>
              </a:rPr>
              <a:t>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0" y="1188720"/>
            <a:ext cx="1645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000">
                <a:solidFill>
                  <a:srgbClr val="3EE6FF"/>
                </a:solidFill>
                <a:latin typeface="Arial"/>
                <a:ea typeface="Arial"/>
                <a:cs typeface="Arial"/>
              </a:rPr>
              <a:t>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0" y="2194560"/>
            <a:ext cx="1645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>
                <a:solidFill>
                  <a:srgbClr val="B9A6E0"/>
                </a:solidFill>
                <a:latin typeface="Arial"/>
                <a:ea typeface="Arial"/>
                <a:cs typeface="Arial"/>
              </a:rPr>
              <a:t>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280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4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노래 방의 규칙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노래는 총 3곡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B9A6E0"/>
                </a:solidFill>
                <a:latin typeface="Black and White Picture"/>
                <a:ea typeface="Black and White Picture"/>
                <a:cs typeface="Black and White Picture"/>
              </a:rPr>
              <a:t>진행자가 노래 전주를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B9A6E0"/>
                </a:solidFill>
                <a:latin typeface="Black and White Picture"/>
                <a:ea typeface="Black and White Picture"/>
                <a:cs typeface="Black and White Picture"/>
              </a:rPr>
              <a:t>틀어 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700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4276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276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제목 맞히기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76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B9A6E0"/>
                </a:solidFill>
                <a:latin typeface="Black and White Picture"/>
                <a:ea typeface="Black and White Picture"/>
                <a:cs typeface="Black and White Picture"/>
              </a:rPr>
              <a:t>노래를 듣고 제목을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B9A6E0"/>
                </a:solidFill>
                <a:latin typeface="Black and White Picture"/>
                <a:ea typeface="Black and White Picture"/>
                <a:cs typeface="Black and White Picture"/>
              </a:rPr>
              <a:t>종이에 적는다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13104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FF3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9680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1B1036"/>
                </a:solidFill>
                <a:latin typeface="Black and White Picture"/>
                <a:ea typeface="Black and White Picture"/>
                <a:cs typeface="Black and White Pictur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9680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1B1036"/>
                </a:solidFill>
                <a:latin typeface="Black and White Picture"/>
                <a:ea typeface="Black and White Picture"/>
                <a:cs typeface="Black and White Picture"/>
              </a:rPr>
              <a:t>틀리면 오답!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9680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1B1036"/>
                </a:solidFill>
                <a:latin typeface="Black and White Picture"/>
                <a:ea typeface="Black and White Picture"/>
                <a:cs typeface="Black and White Picture"/>
              </a:rPr>
              <a:t>제목이 틀리면 오답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1B1036"/>
                </a:solidFill>
                <a:latin typeface="Black and White Picture"/>
                <a:ea typeface="Black and White Picture"/>
                <a:cs typeface="Black and White Picture"/>
              </a:rPr>
              <a:t>생명 1개 감소</a:t>
            </a:r>
          </a:p>
        </p:txBody>
      </p:sp>
      <p:sp>
        <p:nvSpPr>
          <p:cNvPr id="20" name="Heart 19"/>
          <p:cNvSpPr/>
          <p:nvPr/>
        </p:nvSpPr>
        <p:spPr>
          <a:xfrm>
            <a:off x="822960" y="8915400"/>
            <a:ext cx="502920" cy="452628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8869680"/>
            <a:ext cx="1554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>
                <a:solidFill>
                  <a:srgbClr val="B9A6E0"/>
                </a:solidFill>
                <a:latin typeface="Black and White Picture"/>
                <a:ea typeface="Black and White Picture"/>
                <a:cs typeface="Black and White Picture"/>
              </a:rPr>
              <a:t>가수 힌트와 초성 힌트가 함께 나와요!</a:t>
            </a:r>
          </a:p>
        </p:txBody>
      </p:sp>
    </p:spTree>
  </p:cSld>
  <p:clrMapOvr>
    <a:masterClrMapping/>
  </p:clrMapOvr>
  <p:transition spd="slow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14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6642080" cy="8823960"/>
          </a:xfrm>
          <a:prstGeom prst="roundRect">
            <a:avLst>
              <a:gd name="adj" fmla="val 5000"/>
            </a:avLst>
          </a:prstGeom>
          <a:noFill/>
          <a:ln w="1016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2194560" cy="731520"/>
          </a:xfrm>
          <a:prstGeom prst="roundRect">
            <a:avLst>
              <a:gd name="adj" fmla="val 30000"/>
            </a:avLst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오늘의 짤</a:t>
            </a:r>
          </a:p>
        </p:txBody>
      </p:sp>
      <p:sp>
        <p:nvSpPr>
          <p:cNvPr id="5" name="Explosion 4"/>
          <p:cNvSpPr/>
          <p:nvPr/>
        </p:nvSpPr>
        <p:spPr>
          <a:xfrm rot="480000">
            <a:off x="13990320" y="1005840"/>
            <a:ext cx="3108960" cy="2377440"/>
          </a:xfrm>
          <a:prstGeom prst="irregularSeal1">
            <a:avLst/>
          </a:prstGeom>
          <a:solidFill>
            <a:srgbClr val="3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480000">
            <a:off x="13990320" y="1005840"/>
            <a:ext cx="31089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>
                <a:solidFill>
                  <a:srgbClr val="111111"/>
                </a:solidFill>
                <a:latin typeface="Black and White Picture"/>
                <a:ea typeface="Black and White Picture"/>
                <a:cs typeface="Black and White Picture"/>
              </a:rPr>
              <a:t>♪♪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017520"/>
            <a:ext cx="1426464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>
                <a:ln w="88900">
                  <a:solidFill>
                    <a:srgbClr val="111111"/>
                  </a:solidFill>
                </a:ln>
                <a:solidFill>
                  <a:srgbClr val="FFE14D"/>
                </a:solidFill>
                <a:latin typeface="Black and White Picture"/>
                <a:ea typeface="Black and White Picture"/>
                <a:cs typeface="Black and White Picture"/>
              </a:rPr>
              <a:t>솔라춤 타임!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315200"/>
            <a:ext cx="14264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ln w="50800">
                  <a:solidFill>
                    <a:srgbClr val="111111"/>
                  </a:solidFill>
                </a:ln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노래 나오면 일단 어깨부터 흔들기</a:t>
            </a:r>
          </a:p>
        </p:txBody>
      </p:sp>
    </p:spTree>
  </p:cSld>
  <p:clrMapOvr>
    <a:masterClrMapping/>
  </p:clrMapOvr>
  <p:transition spd="slow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2번째 방 · 노래 퀴즈   Q1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0" y="365760"/>
            <a:ext cx="1645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>
                <a:solidFill>
                  <a:srgbClr val="FF3EA5"/>
                </a:solidFill>
                <a:latin typeface="Arial"/>
                <a:ea typeface="Arial"/>
                <a:cs typeface="Arial"/>
              </a:rPr>
              <a:t>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0" y="1188720"/>
            <a:ext cx="1645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000">
                <a:solidFill>
                  <a:srgbClr val="3EE6FF"/>
                </a:solidFill>
                <a:latin typeface="Arial"/>
                <a:ea typeface="Arial"/>
                <a:cs typeface="Arial"/>
              </a:rPr>
              <a:t>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0" y="2194560"/>
            <a:ext cx="1645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>
                <a:solidFill>
                  <a:srgbClr val="B9A6E0"/>
                </a:solidFill>
                <a:latin typeface="Arial"/>
                <a:ea typeface="Arial"/>
                <a:cs typeface="Arial"/>
              </a:rPr>
              <a:t>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전주를 듣고 노래 제목을 맞혀라!</a:t>
            </a:r>
          </a:p>
          <a:p>
            <a:pPr algn="l">
              <a:lnSpc>
                <a:spcPct val="100000"/>
              </a:lnSpc>
            </a:pPr>
            <a:r>
              <a:rPr sz="84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(가수: 아이유)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B9A6E0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ㅈㅇ 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7863840"/>
            <a:ext cx="7955279" cy="1463040"/>
          </a:xfrm>
          <a:prstGeom prst="roundRect">
            <a:avLst>
              <a:gd name="adj" fmla="val 50000"/>
            </a:avLst>
          </a:prstGeom>
          <a:solidFill>
            <a:srgbClr val="FF3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7863840"/>
            <a:ext cx="7955279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>
                <a:solidFill>
                  <a:srgbClr val="1B1036"/>
                </a:solidFill>
                <a:latin typeface="Arial"/>
                <a:ea typeface="Arial"/>
                <a:cs typeface="Arial"/>
              </a:rPr>
              <a:t>♪  </a:t>
            </a:r>
            <a:r>
              <a:rPr sz="4000">
                <a:solidFill>
                  <a:srgbClr val="1B1036"/>
                </a:solidFill>
                <a:latin typeface="Black and White Picture"/>
                <a:ea typeface="Black and White Picture"/>
                <a:cs typeface="Black and White Picture"/>
              </a:rPr>
              <a:t>노래가 나옵니다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2번째 방 · 노래 퀴즈   정답 1 / 3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B9A6E0"/>
                </a:solidFill>
                <a:latin typeface="Black and White Picture"/>
                <a:ea typeface="Black and White Picture"/>
                <a:cs typeface="Black and White Picture"/>
              </a:rPr>
              <a:t>Q1. 가수: 아이유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좋은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아이유의 대표곡 "좋은 날"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2번째 방 · 노래 퀴즈   Q2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0" y="365760"/>
            <a:ext cx="1645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>
                <a:solidFill>
                  <a:srgbClr val="FF3EA5"/>
                </a:solidFill>
                <a:latin typeface="Arial"/>
                <a:ea typeface="Arial"/>
                <a:cs typeface="Arial"/>
              </a:rPr>
              <a:t>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0" y="1188720"/>
            <a:ext cx="1645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000">
                <a:solidFill>
                  <a:srgbClr val="3EE6FF"/>
                </a:solidFill>
                <a:latin typeface="Arial"/>
                <a:ea typeface="Arial"/>
                <a:cs typeface="Arial"/>
              </a:rPr>
              <a:t>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0" y="2194560"/>
            <a:ext cx="1645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>
                <a:solidFill>
                  <a:srgbClr val="B9A6E0"/>
                </a:solidFill>
                <a:latin typeface="Arial"/>
                <a:ea typeface="Arial"/>
                <a:cs typeface="Arial"/>
              </a:rPr>
              <a:t>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전주를 듣고 노래 제목을 맞혀라!</a:t>
            </a:r>
          </a:p>
          <a:p>
            <a:pPr algn="l">
              <a:lnSpc>
                <a:spcPct val="100000"/>
              </a:lnSpc>
            </a:pPr>
            <a:r>
              <a:rPr sz="84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(가수: 방탄소년단(BTS))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B9A6E0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영어 제목 · 8글자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7863840"/>
            <a:ext cx="7955279" cy="1463040"/>
          </a:xfrm>
          <a:prstGeom prst="roundRect">
            <a:avLst>
              <a:gd name="adj" fmla="val 50000"/>
            </a:avLst>
          </a:prstGeom>
          <a:solidFill>
            <a:srgbClr val="FF3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7863840"/>
            <a:ext cx="7955279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>
                <a:solidFill>
                  <a:srgbClr val="1B1036"/>
                </a:solidFill>
                <a:latin typeface="Arial"/>
                <a:ea typeface="Arial"/>
                <a:cs typeface="Arial"/>
              </a:rPr>
              <a:t>♪  </a:t>
            </a:r>
            <a:r>
              <a:rPr sz="4000">
                <a:solidFill>
                  <a:srgbClr val="1B1036"/>
                </a:solidFill>
                <a:latin typeface="Black and White Picture"/>
                <a:ea typeface="Black and White Picture"/>
                <a:cs typeface="Black and White Picture"/>
              </a:rPr>
              <a:t>노래가 나옵니다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2번째 방 · 노래 퀴즈   정답 2 / 3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B9A6E0"/>
                </a:solidFill>
                <a:latin typeface="Black and White Picture"/>
                <a:ea typeface="Black and White Picture"/>
                <a:cs typeface="Black and White Picture"/>
              </a:rPr>
              <a:t>Q2. 가수: 방탄소년단(BTS)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Dynamite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BTS의 첫 빌보드 1위곡!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2번째 방 · 노래 퀴즈   Q3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0" y="365760"/>
            <a:ext cx="1645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>
                <a:solidFill>
                  <a:srgbClr val="FF3EA5"/>
                </a:solidFill>
                <a:latin typeface="Arial"/>
                <a:ea typeface="Arial"/>
                <a:cs typeface="Arial"/>
              </a:rPr>
              <a:t>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0" y="1188720"/>
            <a:ext cx="1645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000">
                <a:solidFill>
                  <a:srgbClr val="3EE6FF"/>
                </a:solidFill>
                <a:latin typeface="Arial"/>
                <a:ea typeface="Arial"/>
                <a:cs typeface="Arial"/>
              </a:rPr>
              <a:t>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0" y="2194560"/>
            <a:ext cx="1645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>
                <a:solidFill>
                  <a:srgbClr val="B9A6E0"/>
                </a:solidFill>
                <a:latin typeface="Arial"/>
                <a:ea typeface="Arial"/>
                <a:cs typeface="Arial"/>
              </a:rPr>
              <a:t>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Q3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전주를 듣고 노래 제목을 맞혀라!</a:t>
            </a:r>
          </a:p>
          <a:p>
            <a:pPr algn="l">
              <a:lnSpc>
                <a:spcPct val="100000"/>
              </a:lnSpc>
            </a:pPr>
            <a:r>
              <a:rPr sz="84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(가수: 싸이(PSY))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B9A6E0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ㄱㄴㅅㅌㅇ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7863840"/>
            <a:ext cx="7955279" cy="1463040"/>
          </a:xfrm>
          <a:prstGeom prst="roundRect">
            <a:avLst>
              <a:gd name="adj" fmla="val 50000"/>
            </a:avLst>
          </a:prstGeom>
          <a:solidFill>
            <a:srgbClr val="FF3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7863840"/>
            <a:ext cx="7955279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>
                <a:solidFill>
                  <a:srgbClr val="1B1036"/>
                </a:solidFill>
                <a:latin typeface="Arial"/>
                <a:ea typeface="Arial"/>
                <a:cs typeface="Arial"/>
              </a:rPr>
              <a:t>♪  </a:t>
            </a:r>
            <a:r>
              <a:rPr sz="4000">
                <a:solidFill>
                  <a:srgbClr val="1B1036"/>
                </a:solidFill>
                <a:latin typeface="Black and White Picture"/>
                <a:ea typeface="Black and White Picture"/>
                <a:cs typeface="Black and White Picture"/>
              </a:rPr>
              <a:t>노래가 나옵니다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2번째 방 · 노래 퀴즈   정답 3 / 3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3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B9A6E0"/>
                </a:solidFill>
                <a:latin typeface="Black and White Picture"/>
                <a:ea typeface="Black and White Picture"/>
                <a:cs typeface="Black and White Picture"/>
              </a:rPr>
              <a:t>Q3. 가수: 싸이(PSY)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강남스타일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말춤으로 전 세계를 휩쓴 노래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2C1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7F1FF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solidFill>
                  <a:srgbClr val="FF3EA5"/>
                </a:solidFill>
                <a:latin typeface="Black and White Picture"/>
                <a:ea typeface="Black and White Picture"/>
                <a:cs typeface="Black and White Picture"/>
              </a:rPr>
              <a:t>2번째 방 클리어!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8288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열쇠 조각 2 획득!</a:t>
            </a:r>
          </a:p>
        </p:txBody>
      </p:sp>
      <p:sp>
        <p:nvSpPr>
          <p:cNvPr id="4" name="Oval 3"/>
          <p:cNvSpPr/>
          <p:nvPr/>
        </p:nvSpPr>
        <p:spPr>
          <a:xfrm>
            <a:off x="6766560" y="3749039"/>
            <a:ext cx="1806854" cy="180685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08616" y="4291096"/>
            <a:ext cx="722741" cy="722741"/>
          </a:xfrm>
          <a:prstGeom prst="ellipse">
            <a:avLst/>
          </a:prstGeom>
          <a:solidFill>
            <a:srgbClr val="15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83071" y="4507918"/>
            <a:ext cx="3038368" cy="2890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90073" y="4742809"/>
            <a:ext cx="332841" cy="5420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50854" y="4742809"/>
            <a:ext cx="332841" cy="722741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901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901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475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832104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>
                <a:solidFill>
                  <a:srgbClr val="C9BD98"/>
                </a:solidFill>
                <a:latin typeface="Black and White Picture"/>
                <a:ea typeface="Black and White Picture"/>
                <a:cs typeface="Black and White Picture"/>
              </a:rPr>
              <a:t>모은 조각 2 / 7  ·  다음 방으로 이동!</a:t>
            </a:r>
          </a:p>
        </p:txBody>
      </p:sp>
    </p:spTree>
  </p:cSld>
  <p:clrMapOvr>
    <a:masterClrMapping/>
  </p:clrMapOvr>
  <p:transition spd="slow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0"/>
            <a:ext cx="18288000" cy="1143000"/>
          </a:xfrm>
          <a:prstGeom prst="rect">
            <a:avLst/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door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97280"/>
            <a:ext cx="4315968" cy="83210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6093440" y="914400"/>
            <a:ext cx="2011680" cy="201168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642080" y="914400"/>
            <a:ext cx="914400" cy="201168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093440" y="1901952"/>
            <a:ext cx="201168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92640" y="6766560"/>
            <a:ext cx="2011680" cy="201168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0" y="6766560"/>
            <a:ext cx="914400" cy="201168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92640" y="7754112"/>
            <a:ext cx="201168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5-Point Star 10"/>
          <p:cNvSpPr/>
          <p:nvPr/>
        </p:nvSpPr>
        <p:spPr>
          <a:xfrm>
            <a:off x="16824960" y="4572000"/>
            <a:ext cx="548640" cy="548640"/>
          </a:xfrm>
          <a:prstGeom prst="star5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10058400" y="2743200"/>
            <a:ext cx="548640" cy="548640"/>
          </a:xfrm>
          <a:prstGeom prst="star5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17282160" y="7498079"/>
            <a:ext cx="548640" cy="548640"/>
          </a:xfrm>
          <a:prstGeom prst="star5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103120"/>
            <a:ext cx="8595360" cy="5120640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5603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ROOM 3 /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7472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0292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상식 퀴즈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309360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세계를 여행하는 지도의 방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0"/>
            <a:ext cx="18288000" cy="1143000"/>
          </a:xfrm>
          <a:prstGeom prst="rect">
            <a:avLst/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FFF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4389120"/>
            <a:ext cx="3767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0">
                <a:solidFill>
                  <a:srgbClr val="F2C14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5" name="!!door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325880"/>
            <a:ext cx="1143000" cy="81381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6093440" y="914400"/>
            <a:ext cx="2011680" cy="201168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642080" y="914400"/>
            <a:ext cx="914400" cy="201168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93440" y="1901952"/>
            <a:ext cx="201168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0" y="6766560"/>
            <a:ext cx="2011680" cy="201168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0" y="6766560"/>
            <a:ext cx="914400" cy="201168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92640" y="7754112"/>
            <a:ext cx="201168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16824960" y="4572000"/>
            <a:ext cx="548640" cy="548640"/>
          </a:xfrm>
          <a:prstGeom prst="star5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5-Point Star 12"/>
          <p:cNvSpPr/>
          <p:nvPr/>
        </p:nvSpPr>
        <p:spPr>
          <a:xfrm>
            <a:off x="10058400" y="2743200"/>
            <a:ext cx="548640" cy="548640"/>
          </a:xfrm>
          <a:prstGeom prst="star5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17282160" y="7498079"/>
            <a:ext cx="548640" cy="548640"/>
          </a:xfrm>
          <a:prstGeom prst="star5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2103120"/>
            <a:ext cx="8595360" cy="5120640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5603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ROOM 3 /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7472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끼이이익…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7680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문이 열렸다! 안으로 들어가자</a:t>
            </a:r>
          </a:p>
        </p:txBody>
      </p:sp>
    </p:spTree>
  </p:cSld>
  <p:clrMapOvr>
    <a:masterClrMapping/>
  </p:clrMapOvr>
  <p:transition spd="slow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</a:t>
            </a:r>
          </a:p>
        </p:txBody>
      </p:sp>
      <p:sp>
        <p:nvSpPr>
          <p:cNvPr id="4" name="Oval 3"/>
          <p:cNvSpPr/>
          <p:nvPr/>
        </p:nvSpPr>
        <p:spPr>
          <a:xfrm>
            <a:off x="14996159" y="457200"/>
            <a:ext cx="2560320" cy="256032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27680" y="457200"/>
            <a:ext cx="1097280" cy="256032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96159" y="1719072"/>
            <a:ext cx="256032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0" y="118872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0" y="228600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280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상식 방의 규칙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문제는 총 10개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나라 · 수도 · 세계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상식 문제 10개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700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276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276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답은 종이에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276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주관식은 쓰고,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객관식은 번호를 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3104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9680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0F2A47"/>
                </a:solidFill>
                <a:latin typeface="Black and White Picture"/>
                <a:ea typeface="Black and White Picture"/>
                <a:cs typeface="Black and White Pictur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9680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0F2A47"/>
                </a:solidFill>
                <a:latin typeface="Black and White Picture"/>
                <a:ea typeface="Black and White Picture"/>
                <a:cs typeface="Black and White Picture"/>
              </a:rPr>
              <a:t>틀리면 오답!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9680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0F2A47"/>
                </a:solidFill>
                <a:latin typeface="Black and White Picture"/>
                <a:ea typeface="Black and White Picture"/>
                <a:cs typeface="Black and White Picture"/>
              </a:rPr>
              <a:t>답이 틀리면 오답 처리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0F2A47"/>
                </a:solidFill>
                <a:latin typeface="Black and White Picture"/>
                <a:ea typeface="Black and White Picture"/>
                <a:cs typeface="Black and White Picture"/>
              </a:rPr>
              <a:t>생명 1개 감소</a:t>
            </a:r>
          </a:p>
        </p:txBody>
      </p:sp>
      <p:sp>
        <p:nvSpPr>
          <p:cNvPr id="22" name="Heart 21"/>
          <p:cNvSpPr/>
          <p:nvPr/>
        </p:nvSpPr>
        <p:spPr>
          <a:xfrm>
            <a:off x="822960" y="8915400"/>
            <a:ext cx="502920" cy="452628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8869680"/>
            <a:ext cx="1554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헷갈리는 문제가 많아요. 함정 조심!</a:t>
            </a:r>
          </a:p>
        </p:txBody>
      </p:sp>
    </p:spTree>
  </p:cSld>
  <p:clrMapOvr>
    <a:masterClrMapping/>
  </p:clrMapOvr>
  <p:transition spd="slow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Q1 / 10</a:t>
            </a:r>
          </a:p>
        </p:txBody>
      </p:sp>
      <p:sp>
        <p:nvSpPr>
          <p:cNvPr id="4" name="Oval 3"/>
          <p:cNvSpPr/>
          <p:nvPr/>
        </p:nvSpPr>
        <p:spPr>
          <a:xfrm>
            <a:off x="14996159" y="457200"/>
            <a:ext cx="2560320" cy="256032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27680" y="457200"/>
            <a:ext cx="1097280" cy="256032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96159" y="1719072"/>
            <a:ext cx="256032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0" y="118872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0" y="228600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호주의 수도는 어디일까?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시드니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멜버른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캔버라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퍼스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정답 1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Q1. 호주의 수도는 어디일까?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③ 캔버라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시드니가 아니라 캔버라! 대표 함정 문제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Q2 / 10</a:t>
            </a:r>
          </a:p>
        </p:txBody>
      </p:sp>
      <p:sp>
        <p:nvSpPr>
          <p:cNvPr id="4" name="Oval 3"/>
          <p:cNvSpPr/>
          <p:nvPr/>
        </p:nvSpPr>
        <p:spPr>
          <a:xfrm>
            <a:off x="14996159" y="457200"/>
            <a:ext cx="2560320" cy="256032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27680" y="457200"/>
            <a:ext cx="1097280" cy="256032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96159" y="1719072"/>
            <a:ext cx="256032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0" y="118872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0" y="228600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캐나다의 수도는 어디일까?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토론토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밴쿠버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오타와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몬트리올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정답 2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Q2. 캐나다의 수도는 어디일까?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③ 오타와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가장 큰 도시는 토론토, 수도는 오타와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Q3 / 10</a:t>
            </a:r>
          </a:p>
        </p:txBody>
      </p:sp>
      <p:sp>
        <p:nvSpPr>
          <p:cNvPr id="4" name="Oval 3"/>
          <p:cNvSpPr/>
          <p:nvPr/>
        </p:nvSpPr>
        <p:spPr>
          <a:xfrm>
            <a:off x="14996159" y="457200"/>
            <a:ext cx="2560320" cy="256032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27680" y="457200"/>
            <a:ext cx="1097280" cy="256032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96159" y="1719072"/>
            <a:ext cx="256032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0" y="118872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0" y="228600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세계에서 가장 긴 강은?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아마존강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나일강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양쯔강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미시시피강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정답 3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Q3. 세계에서 가장 긴 강은?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② 나일강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아프리카를 흐르는 약 6,650km의 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Q4 / 10</a:t>
            </a:r>
          </a:p>
        </p:txBody>
      </p:sp>
      <p:sp>
        <p:nvSpPr>
          <p:cNvPr id="4" name="Oval 3"/>
          <p:cNvSpPr/>
          <p:nvPr/>
        </p:nvSpPr>
        <p:spPr>
          <a:xfrm>
            <a:off x="14996159" y="457200"/>
            <a:ext cx="2560320" cy="256032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27680" y="457200"/>
            <a:ext cx="1097280" cy="256032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96159" y="1719072"/>
            <a:ext cx="256032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0" y="118872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0" y="228600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2023년 이후 인구가 가장 많은 나라는?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중국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인도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미국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인도네시아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정답 4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Q4. 2023년 이후 인구가 가장 많은 나라는?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② 인도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2023년에 인도가 중국을 앞질렀어요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Q5 / 10</a:t>
            </a:r>
          </a:p>
        </p:txBody>
      </p:sp>
      <p:sp>
        <p:nvSpPr>
          <p:cNvPr id="4" name="Oval 3"/>
          <p:cNvSpPr/>
          <p:nvPr/>
        </p:nvSpPr>
        <p:spPr>
          <a:xfrm>
            <a:off x="14996159" y="457200"/>
            <a:ext cx="2560320" cy="256032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27680" y="457200"/>
            <a:ext cx="1097280" cy="256032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96159" y="1719072"/>
            <a:ext cx="256032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0" y="118872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0" y="228600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Q5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브라질 사람들이 주로 쓰는 언어는?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스페인어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포르투갈어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영어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브라질어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정답 5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Q5. 브라질 사람들이 주로 쓰는 언어는?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② 포르투갈어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옛날에 포르투갈의 식민지였기 때문!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6642080" cy="8823960"/>
          </a:xfrm>
          <a:prstGeom prst="roundRect">
            <a:avLst>
              <a:gd name="adj" fmla="val 5000"/>
            </a:avLst>
          </a:prstGeom>
          <a:noFill/>
          <a:ln w="1016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2194560" cy="731520"/>
          </a:xfrm>
          <a:prstGeom prst="roundRect">
            <a:avLst>
              <a:gd name="adj" fmla="val 30000"/>
            </a:avLst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오늘의 짤</a:t>
            </a:r>
          </a:p>
        </p:txBody>
      </p:sp>
      <p:sp>
        <p:nvSpPr>
          <p:cNvPr id="5" name="Explosion 4"/>
          <p:cNvSpPr/>
          <p:nvPr/>
        </p:nvSpPr>
        <p:spPr>
          <a:xfrm rot="480000">
            <a:off x="13990320" y="1005840"/>
            <a:ext cx="3108960" cy="2377440"/>
          </a:xfrm>
          <a:prstGeom prst="irregularSeal1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480000">
            <a:off x="13990320" y="1005840"/>
            <a:ext cx="31089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>
                <a:solidFill>
                  <a:srgbClr val="111111"/>
                </a:solidFill>
                <a:latin typeface="Black and White Picture"/>
                <a:ea typeface="Black and White Picture"/>
                <a:cs typeface="Black and White Picture"/>
              </a:rPr>
              <a:t>ㅋㅋㅋ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017520"/>
            <a:ext cx="1426464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>
                <a:ln w="88900">
                  <a:solidFill>
                    <a:srgbClr val="111111"/>
                  </a:solidFill>
                </a:ln>
                <a:solidFill>
                  <a:srgbClr val="FFE14D"/>
                </a:solidFill>
                <a:latin typeface="Black and White Picture"/>
                <a:ea typeface="Black and White Picture"/>
                <a:cs typeface="Black and White Picture"/>
              </a:rPr>
              <a:t>구멍이 2개지요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315200"/>
            <a:ext cx="14264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ln w="50800">
                  <a:solidFill>
                    <a:srgbClr val="111111"/>
                  </a:solidFill>
                </a:ln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(아무 이유 없음) 머리 식히고 가자</a:t>
            </a:r>
          </a:p>
        </p:txBody>
      </p:sp>
    </p:spTree>
  </p:cSld>
  <p:clrMapOvr>
    <a:masterClrMapping/>
  </p:clrMapOvr>
  <p:transition spd="slow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Q6 / 10</a:t>
            </a:r>
          </a:p>
        </p:txBody>
      </p:sp>
      <p:sp>
        <p:nvSpPr>
          <p:cNvPr id="4" name="Oval 3"/>
          <p:cNvSpPr/>
          <p:nvPr/>
        </p:nvSpPr>
        <p:spPr>
          <a:xfrm>
            <a:off x="14996159" y="457200"/>
            <a:ext cx="2560320" cy="256032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27680" y="457200"/>
            <a:ext cx="1097280" cy="256032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96159" y="1719072"/>
            <a:ext cx="256032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0" y="118872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0" y="228600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Q6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세계에서 가장 작은 나라는?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모나코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바티칸 시국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싱가포르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산마리노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정답 6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Q6. 세계에서 가장 작은 나라는?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619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② 바티칸 시국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이탈리아 로마 안에 있는 작은 나라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Q7 / 10</a:t>
            </a:r>
          </a:p>
        </p:txBody>
      </p:sp>
      <p:sp>
        <p:nvSpPr>
          <p:cNvPr id="4" name="Oval 3"/>
          <p:cNvSpPr/>
          <p:nvPr/>
        </p:nvSpPr>
        <p:spPr>
          <a:xfrm>
            <a:off x="14996159" y="457200"/>
            <a:ext cx="2560320" cy="256032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27680" y="457200"/>
            <a:ext cx="1097280" cy="256032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96159" y="1719072"/>
            <a:ext cx="256032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0" y="118872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0" y="228600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Q7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자유의 여신상을 미국에 선물한 나라는?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영국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프랑스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스페인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독일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정답 7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Q7. 자유의 여신상을 미국에 선물한 나라는?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② 프랑스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미국 독립 100주년 기념 선물!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Q8 / 10</a:t>
            </a:r>
          </a:p>
        </p:txBody>
      </p:sp>
      <p:sp>
        <p:nvSpPr>
          <p:cNvPr id="4" name="Oval 3"/>
          <p:cNvSpPr/>
          <p:nvPr/>
        </p:nvSpPr>
        <p:spPr>
          <a:xfrm>
            <a:off x="14996159" y="457200"/>
            <a:ext cx="2560320" cy="256032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27680" y="457200"/>
            <a:ext cx="1097280" cy="256032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96159" y="1719072"/>
            <a:ext cx="256032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0" y="118872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0" y="228600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Q8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지구에서 가장 넓은 바다(대양)는?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대서양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인도양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태평양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0F2A47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북극해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정답 8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Q8. 지구에서 가장 넓은 바다(대양)는?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③ 태평양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모든 대륙을 합친 것보다도 넓어요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Q9 / 10</a:t>
            </a:r>
          </a:p>
        </p:txBody>
      </p:sp>
      <p:sp>
        <p:nvSpPr>
          <p:cNvPr id="4" name="Oval 3"/>
          <p:cNvSpPr/>
          <p:nvPr/>
        </p:nvSpPr>
        <p:spPr>
          <a:xfrm>
            <a:off x="14996159" y="457200"/>
            <a:ext cx="2560320" cy="256032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27680" y="457200"/>
            <a:ext cx="1097280" cy="256032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96159" y="1719072"/>
            <a:ext cx="256032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0" y="118872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0" y="228600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Q9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세계에서 가장 높은 산의</a:t>
            </a:r>
          </a:p>
          <a:p>
            <a:pPr algn="l">
              <a:lnSpc>
                <a:spcPct val="100000"/>
              </a:lnSpc>
            </a:pPr>
            <a:r>
              <a:rPr sz="8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이름은?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5글자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정답 9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Q9. 세계에서 가장 높은 산의 이름은?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에베레스트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높이 약 8,849m, 히말라야산맥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Q10 / 10</a:t>
            </a:r>
          </a:p>
        </p:txBody>
      </p:sp>
      <p:sp>
        <p:nvSpPr>
          <p:cNvPr id="4" name="Oval 3"/>
          <p:cNvSpPr/>
          <p:nvPr/>
        </p:nvSpPr>
        <p:spPr>
          <a:xfrm>
            <a:off x="14996159" y="457200"/>
            <a:ext cx="2560320" cy="2560320"/>
          </a:xfrm>
          <a:prstGeom prst="ellipse">
            <a:avLst/>
          </a:prstGeom>
          <a:noFill/>
          <a:ln w="381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27680" y="457200"/>
            <a:ext cx="1097280" cy="2560320"/>
          </a:xfrm>
          <a:prstGeom prst="ellipse">
            <a:avLst/>
          </a:prstGeom>
          <a:noFill/>
          <a:ln w="254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996159" y="1719072"/>
            <a:ext cx="2560320" cy="3657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0" y="118872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0" y="2286000"/>
            <a:ext cx="2194560" cy="274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Q10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남극을 빼고 세계에서 가장 넓은</a:t>
            </a:r>
          </a:p>
          <a:p>
            <a:pPr algn="l">
              <a:lnSpc>
                <a:spcPct val="100000"/>
              </a:lnSpc>
            </a:pPr>
            <a:r>
              <a:rPr sz="8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사막은?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3글자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3번째 방 · 상식 퀴즈   정답 10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BCD4"/>
                </a:solidFill>
                <a:latin typeface="Black and White Picture"/>
                <a:ea typeface="Black and White Picture"/>
                <a:cs typeface="Black and White Picture"/>
              </a:rPr>
              <a:t>Q10. 남극을 빼고 세계에서 가장 넓은 사막은?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사하라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아프리카 북부의 사하라 사막!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73B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F1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solidFill>
                  <a:srgbClr val="F2C14E"/>
                </a:solidFill>
                <a:latin typeface="Black and White Picture"/>
                <a:ea typeface="Black and White Picture"/>
                <a:cs typeface="Black and White Picture"/>
              </a:rPr>
              <a:t>3번째 방 클리어!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8288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열쇠 조각 3 획득!</a:t>
            </a:r>
          </a:p>
        </p:txBody>
      </p:sp>
      <p:sp>
        <p:nvSpPr>
          <p:cNvPr id="4" name="Oval 3"/>
          <p:cNvSpPr/>
          <p:nvPr/>
        </p:nvSpPr>
        <p:spPr>
          <a:xfrm>
            <a:off x="6766560" y="3749039"/>
            <a:ext cx="1806854" cy="180685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08616" y="4291096"/>
            <a:ext cx="722741" cy="722741"/>
          </a:xfrm>
          <a:prstGeom prst="ellipse">
            <a:avLst/>
          </a:prstGeom>
          <a:solidFill>
            <a:srgbClr val="15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83071" y="4507918"/>
            <a:ext cx="3038368" cy="2890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90073" y="4742809"/>
            <a:ext cx="332841" cy="5420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50854" y="4742809"/>
            <a:ext cx="332841" cy="722741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901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901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475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832104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>
                <a:solidFill>
                  <a:srgbClr val="C9BD98"/>
                </a:solidFill>
                <a:latin typeface="Black and White Picture"/>
                <a:ea typeface="Black and White Picture"/>
                <a:cs typeface="Black and White Picture"/>
              </a:rPr>
              <a:t>모은 조각 3 / 7  ·  다음 방으로 이동!</a:t>
            </a:r>
          </a:p>
        </p:txBody>
      </p:sp>
    </p:spTree>
  </p:cSld>
  <p:clrMapOvr>
    <a:masterClrMapping/>
  </p:clrMapOvr>
  <p:transition spd="slow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0"/>
            <a:ext cx="18288000" cy="1143000"/>
          </a:xfrm>
          <a:prstGeom prst="rect">
            <a:avLst/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door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97280"/>
            <a:ext cx="4315968" cy="83210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6093440" y="914400"/>
            <a:ext cx="1828800" cy="182880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755312" y="1418096"/>
            <a:ext cx="219456" cy="21945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054414" y="1346395"/>
            <a:ext cx="219456" cy="21945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949210" y="1614545"/>
            <a:ext cx="219456" cy="21945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12234" y="1744159"/>
            <a:ext cx="219456" cy="21945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93486" y="1676685"/>
            <a:ext cx="219456" cy="21945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733520" y="5852160"/>
            <a:ext cx="1280160" cy="128016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034265" y="6166255"/>
            <a:ext cx="153619" cy="153619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61278" y="6637443"/>
            <a:ext cx="153619" cy="153619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068795" y="6251082"/>
            <a:ext cx="153619" cy="153619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391159" y="6714801"/>
            <a:ext cx="153619" cy="153619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358944" y="6362099"/>
            <a:ext cx="153619" cy="153619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92640" y="7132320"/>
            <a:ext cx="1463040" cy="146304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9398" y="7459004"/>
            <a:ext cx="175564" cy="175564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13234" y="7636782"/>
            <a:ext cx="175564" cy="175564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90773" y="7511095"/>
            <a:ext cx="175564" cy="175564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10908" y="8021940"/>
            <a:ext cx="175564" cy="175564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17452" y="7850380"/>
            <a:ext cx="175564" cy="175564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66960" y="1280160"/>
            <a:ext cx="1005840" cy="100584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89450" y="1668614"/>
            <a:ext cx="120700" cy="120700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43599" y="1512905"/>
            <a:ext cx="120700" cy="120700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98102" y="1584908"/>
            <a:ext cx="120700" cy="120700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10314" y="1696372"/>
            <a:ext cx="120700" cy="120700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26118" y="1775818"/>
            <a:ext cx="120700" cy="120700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824960" y="36576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41280" y="47548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2103120"/>
            <a:ext cx="8595360" cy="5120640"/>
          </a:xfrm>
          <a:prstGeom prst="roundRect">
            <a:avLst>
              <a:gd name="adj" fmla="val 8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25603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ROOM 4 /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47472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0292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과자 퀴즈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6309360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달콤한 함정이 숨어 있는 과자 공장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0"/>
            <a:ext cx="18288000" cy="1143000"/>
          </a:xfrm>
          <a:prstGeom prst="rect">
            <a:avLst/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FFF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4389120"/>
            <a:ext cx="3767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0">
                <a:solidFill>
                  <a:srgbClr val="FF8FB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5" name="!!door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325880"/>
            <a:ext cx="1143000" cy="81381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6093440" y="914400"/>
            <a:ext cx="1828800" cy="182880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873591" y="1554266"/>
            <a:ext cx="219456" cy="21945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185580" y="1919320"/>
            <a:ext cx="219456" cy="21945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2401" y="1805413"/>
            <a:ext cx="219456" cy="21945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39439" y="2080385"/>
            <a:ext cx="219456" cy="21945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126204" y="1543450"/>
            <a:ext cx="219456" cy="21945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733520" y="5852160"/>
            <a:ext cx="1280160" cy="128016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616942" y="6183763"/>
            <a:ext cx="153619" cy="153619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257184" y="6592822"/>
            <a:ext cx="153619" cy="153619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086834" y="6421167"/>
            <a:ext cx="153619" cy="153619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014647" y="6535903"/>
            <a:ext cx="153619" cy="153619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478938" y="6474974"/>
            <a:ext cx="153619" cy="153619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2640" y="7132320"/>
            <a:ext cx="1463040" cy="146304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25677" y="7654440"/>
            <a:ext cx="175564" cy="175564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93870" y="7859721"/>
            <a:ext cx="175564" cy="175564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09452" y="7758651"/>
            <a:ext cx="175564" cy="175564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99701" y="8115981"/>
            <a:ext cx="175564" cy="175564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060" y="7910768"/>
            <a:ext cx="175564" cy="175564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6960" y="1280160"/>
            <a:ext cx="1005840" cy="100584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98639" y="1834122"/>
            <a:ext cx="120700" cy="120700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93582" y="1980775"/>
            <a:ext cx="120700" cy="120700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81490" y="1624456"/>
            <a:ext cx="120700" cy="120700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62150" y="1817606"/>
            <a:ext cx="120700" cy="120700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9475" y="1713523"/>
            <a:ext cx="120700" cy="120700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6824960" y="36576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41280" y="47548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2103120"/>
            <a:ext cx="8595360" cy="5120640"/>
          </a:xfrm>
          <a:prstGeom prst="roundRect">
            <a:avLst>
              <a:gd name="adj" fmla="val 8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25603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ROOM 4 /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47472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끼이이익…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029200"/>
            <a:ext cx="7680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문이 열렸다! 안으로 들어가자</a:t>
            </a:r>
          </a:p>
        </p:txBody>
      </p:sp>
    </p:spTree>
  </p:cSld>
  <p:clrMapOvr>
    <a:masterClrMapping/>
  </p:clrMapOvr>
  <p:transition spd="slow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</a:t>
            </a:r>
          </a:p>
        </p:txBody>
      </p:sp>
      <p:sp>
        <p:nvSpPr>
          <p:cNvPr id="4" name="Oval 3"/>
          <p:cNvSpPr/>
          <p:nvPr/>
        </p:nvSpPr>
        <p:spPr>
          <a:xfrm>
            <a:off x="15179040" y="457200"/>
            <a:ext cx="2011680" cy="201168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50405" y="977315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640674" y="1632255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711471" y="1108596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974608" y="1736047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662427" y="1311346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733520" y="2011680"/>
            <a:ext cx="1188720" cy="118872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297829" y="2774472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458211" y="2762941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136746" y="2496259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184503" y="2774952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540501" y="2339125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0" y="237744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828800"/>
            <a:ext cx="1280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과자 방의 규칙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문제는 총 10개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과자 회사 · 재료 · 모양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과자 문제 10개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700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4276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276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답은 종이에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276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과자 이름이나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번호를 종이에 적는다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3104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9680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4A2616"/>
                </a:solidFill>
                <a:latin typeface="Black and White Picture"/>
                <a:ea typeface="Black and White Picture"/>
                <a:cs typeface="Black and White Picture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9680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4A2616"/>
                </a:solidFill>
                <a:latin typeface="Black and White Picture"/>
                <a:ea typeface="Black and White Picture"/>
                <a:cs typeface="Black and White Picture"/>
              </a:rPr>
              <a:t>틀리면 오답!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9680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4A2616"/>
                </a:solidFill>
                <a:latin typeface="Black and White Picture"/>
                <a:ea typeface="Black and White Picture"/>
                <a:cs typeface="Black and White Picture"/>
              </a:rPr>
              <a:t>답이 틀리면 오답 처리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4A2616"/>
                </a:solidFill>
                <a:latin typeface="Black and White Picture"/>
                <a:ea typeface="Black and White Picture"/>
                <a:cs typeface="Black and White Picture"/>
              </a:rPr>
              <a:t>생명 1개 감소</a:t>
            </a:r>
          </a:p>
        </p:txBody>
      </p:sp>
      <p:sp>
        <p:nvSpPr>
          <p:cNvPr id="30" name="Heart 29"/>
          <p:cNvSpPr/>
          <p:nvPr/>
        </p:nvSpPr>
        <p:spPr>
          <a:xfrm>
            <a:off x="822960" y="8915400"/>
            <a:ext cx="502920" cy="452628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08760" y="8869680"/>
            <a:ext cx="1554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그냥 먹기만 했다면… 여기서 생명이 줄어들 수도?</a:t>
            </a:r>
          </a:p>
        </p:txBody>
      </p:sp>
    </p:spTree>
  </p:cSld>
  <p:clrMapOvr>
    <a:masterClrMapping/>
  </p:clrMapOvr>
  <p:transition spd="slow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Q1 / 10</a:t>
            </a:r>
          </a:p>
        </p:txBody>
      </p:sp>
      <p:sp>
        <p:nvSpPr>
          <p:cNvPr id="4" name="Oval 3"/>
          <p:cNvSpPr/>
          <p:nvPr/>
        </p:nvSpPr>
        <p:spPr>
          <a:xfrm>
            <a:off x="15179040" y="457200"/>
            <a:ext cx="2011680" cy="201168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58622" y="1092847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6074" y="1347330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73939" y="1123817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85493" y="1280929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52786" y="1429184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733520" y="2011680"/>
            <a:ext cx="1188720" cy="118872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37747" y="2659825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277651" y="2616496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373170" y="2281515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505910" y="2713006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491039" y="2723647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0" y="237744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Q1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새우깡을 만드는 회사는?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농심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오리온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롯데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크라운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3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정답 1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Q1. 새우깡을 만드는 회사는?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① 농심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1971년에 나온 농심의 스테디셀러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Q2 / 10</a:t>
            </a:r>
          </a:p>
        </p:txBody>
      </p:sp>
      <p:sp>
        <p:nvSpPr>
          <p:cNvPr id="4" name="Oval 3"/>
          <p:cNvSpPr/>
          <p:nvPr/>
        </p:nvSpPr>
        <p:spPr>
          <a:xfrm>
            <a:off x="15179040" y="457200"/>
            <a:ext cx="2011680" cy="201168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976046" y="1260844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685517" y="1497529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643987" y="927276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91358" y="1022787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23415" y="912418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733520" y="2011680"/>
            <a:ext cx="1188720" cy="118872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971402" y="2339329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031570" y="2465539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986420" y="2769092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336242" y="2337716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121195" y="2455898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0" y="237744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"초코파이 情"을 만드는 회사는?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롯데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오리온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해태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농심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3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정답 2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Q2. "초코파이 情"을 만드는 회사는?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② 오리온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"情" 초코파이는 오리온!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Q3 / 10</a:t>
            </a:r>
          </a:p>
        </p:txBody>
      </p:sp>
      <p:sp>
        <p:nvSpPr>
          <p:cNvPr id="4" name="Oval 3"/>
          <p:cNvSpPr/>
          <p:nvPr/>
        </p:nvSpPr>
        <p:spPr>
          <a:xfrm>
            <a:off x="15179040" y="457200"/>
            <a:ext cx="2011680" cy="201168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947666" y="983095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35270" y="1858438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50086" y="1346196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667762" y="962320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26012" y="1125839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733520" y="2011680"/>
            <a:ext cx="1188720" cy="118872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463902" y="2345376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984991" y="2814651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5239" y="2336558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294103" y="2265496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285151" y="2831005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0" y="237744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허니버터칩을 만든 회사는?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해태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농심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오리온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롯데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3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정답 3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Q3. 허니버터칩을 만든 회사는?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① 해태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한때 품절 대란을 일으킨 해태 과자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Q4 / 10</a:t>
            </a:r>
          </a:p>
        </p:txBody>
      </p:sp>
      <p:sp>
        <p:nvSpPr>
          <p:cNvPr id="4" name="Oval 3"/>
          <p:cNvSpPr/>
          <p:nvPr/>
        </p:nvSpPr>
        <p:spPr>
          <a:xfrm>
            <a:off x="15179040" y="457200"/>
            <a:ext cx="2011680" cy="201168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49742" y="1559798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44016" y="1228377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749393" y="1635982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17078" y="1643140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12966" y="1083880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733520" y="2011680"/>
            <a:ext cx="1188720" cy="118872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453593" y="2834824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478032" y="2728524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57648" y="2689174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106028" y="2557087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182596" y="2266648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0" y="237744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빼빼로를 만드는 회사는?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오리온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크라운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롯데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해태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3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정답 4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Q4. 빼빼로를 만드는 회사는?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③ 롯데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빼빼로데이도 롯데에서 시작!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Q5 / 10</a:t>
            </a:r>
          </a:p>
        </p:txBody>
      </p:sp>
      <p:sp>
        <p:nvSpPr>
          <p:cNvPr id="4" name="Oval 3"/>
          <p:cNvSpPr/>
          <p:nvPr/>
        </p:nvSpPr>
        <p:spPr>
          <a:xfrm>
            <a:off x="15179040" y="457200"/>
            <a:ext cx="2011680" cy="201168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609476" y="1140586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42063" y="1556102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543477" y="1309375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523869" y="1853344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41953" y="1226301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733520" y="2011680"/>
            <a:ext cx="1188720" cy="118872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102297" y="2384252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088178" y="2370895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342184" y="2784531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470785" y="2534403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359368" y="2724700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0" y="237744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Q5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꼬북칩은 과자가 몇 겹일까?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2겹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3겹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5겹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3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정답 5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Q5. 꼬북칩은 과자가 몇 겹일까?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③ 4겹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네 겹이라 더 바삭바삭!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3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6642080" cy="8823960"/>
          </a:xfrm>
          <a:prstGeom prst="roundRect">
            <a:avLst>
              <a:gd name="adj" fmla="val 5000"/>
            </a:avLst>
          </a:prstGeom>
          <a:noFill/>
          <a:ln w="1016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2194560" cy="731520"/>
          </a:xfrm>
          <a:prstGeom prst="roundRect">
            <a:avLst>
              <a:gd name="adj" fmla="val 30000"/>
            </a:avLst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오늘의 짤</a:t>
            </a:r>
          </a:p>
        </p:txBody>
      </p:sp>
      <p:sp>
        <p:nvSpPr>
          <p:cNvPr id="5" name="Explosion 4"/>
          <p:cNvSpPr/>
          <p:nvPr/>
        </p:nvSpPr>
        <p:spPr>
          <a:xfrm rot="480000">
            <a:off x="13990320" y="1005840"/>
            <a:ext cx="3108960" cy="2377440"/>
          </a:xfrm>
          <a:prstGeom prst="irregularSeal1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480000">
            <a:off x="13990320" y="1005840"/>
            <a:ext cx="31089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>
                <a:solidFill>
                  <a:srgbClr val="111111"/>
                </a:solidFill>
                <a:latin typeface="Black and White Picture"/>
                <a:ea typeface="Black and White Picture"/>
                <a:cs typeface="Black and White Picture"/>
              </a:rPr>
              <a:t>슝~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017520"/>
            <a:ext cx="1426464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0">
                <a:ln w="88900">
                  <a:solidFill>
                    <a:srgbClr val="111111"/>
                  </a:solidFill>
                </a:ln>
                <a:solidFill>
                  <a:srgbClr val="FFE14D"/>
                </a:solidFill>
                <a:latin typeface="Black and White Picture"/>
                <a:ea typeface="Black and White Picture"/>
                <a:cs typeface="Black and White Picture"/>
              </a:rPr>
              <a:t>날아올라</a:t>
            </a:r>
          </a:p>
          <a:p>
            <a:pPr algn="ctr">
              <a:lnSpc>
                <a:spcPct val="100000"/>
              </a:lnSpc>
            </a:pPr>
            <a:r>
              <a:rPr sz="9600">
                <a:ln w="88900">
                  <a:solidFill>
                    <a:srgbClr val="111111"/>
                  </a:solidFill>
                </a:ln>
                <a:solidFill>
                  <a:srgbClr val="FFE14D"/>
                </a:solidFill>
                <a:latin typeface="Black and White Picture"/>
                <a:ea typeface="Black and White Picture"/>
                <a:cs typeface="Black and White Picture"/>
              </a:rPr>
              <a:t>홀로로로로로로로로로로로로~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315200"/>
            <a:ext cx="14264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ln w="50800">
                  <a:solidFill>
                    <a:srgbClr val="111111"/>
                  </a:solidFill>
                </a:ln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과자 먹고 날아오를 준비 완료</a:t>
            </a:r>
          </a:p>
        </p:txBody>
      </p:sp>
    </p:spTree>
  </p:cSld>
  <p:clrMapOvr>
    <a:masterClrMapping/>
  </p:clrMapOvr>
  <p:transition spd="slow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Q6 / 10</a:t>
            </a:r>
          </a:p>
        </p:txBody>
      </p:sp>
      <p:sp>
        <p:nvSpPr>
          <p:cNvPr id="4" name="Oval 3"/>
          <p:cNvSpPr/>
          <p:nvPr/>
        </p:nvSpPr>
        <p:spPr>
          <a:xfrm>
            <a:off x="15179040" y="457200"/>
            <a:ext cx="2011680" cy="201168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666649" y="1523979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96466" y="1646407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335897" y="1340360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60940" y="1653279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15835" y="1665036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733520" y="2011680"/>
            <a:ext cx="1188720" cy="118872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48778" y="2484694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209832" y="2812162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02055" y="2350467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046770" y="2339261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509071" y="2728776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0" y="237744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Q6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죠리퐁은 무엇을 튀겨서 만들까?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보리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옥수수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3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정답 6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Q6. 죠리퐁은 무엇을 튀겨서 만들까?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② 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밀을 튀겨 만든 과자예요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Q7 / 10</a:t>
            </a:r>
          </a:p>
        </p:txBody>
      </p:sp>
      <p:sp>
        <p:nvSpPr>
          <p:cNvPr id="4" name="Oval 3"/>
          <p:cNvSpPr/>
          <p:nvPr/>
        </p:nvSpPr>
        <p:spPr>
          <a:xfrm>
            <a:off x="15179040" y="457200"/>
            <a:ext cx="2011680" cy="201168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28403" y="1690873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567406" y="1520642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933829" y="1411400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13124" y="873862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57936" y="1513004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733520" y="2011680"/>
            <a:ext cx="1188720" cy="118872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284242" y="2804333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229102" y="2767553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62297" y="2374859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120944" y="2423551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114230" y="2597978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0" y="237744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Q7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홈런볼 안에 들어 있는 것은?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초코 크림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딸기잼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치즈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땅콩버터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3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정답 7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Q7. 홈런볼 안에 들어 있는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① 초코 크림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겉은 바삭, 속은 초코 크림!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Q8 / 10</a:t>
            </a:r>
          </a:p>
        </p:txBody>
      </p:sp>
      <p:sp>
        <p:nvSpPr>
          <p:cNvPr id="4" name="Oval 3"/>
          <p:cNvSpPr/>
          <p:nvPr/>
        </p:nvSpPr>
        <p:spPr>
          <a:xfrm>
            <a:off x="15179040" y="457200"/>
            <a:ext cx="2011680" cy="201168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842255" y="1280995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713215" y="1774867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937226" y="1320372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68131" y="1769113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004460" y="1782616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733520" y="2011680"/>
            <a:ext cx="1188720" cy="118872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269424" y="2565519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282415" y="2260541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32856" y="2358256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973601" y="2724418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073699" y="2530849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0" y="237744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Q8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고래밥 과자는 무슨 모양일까?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공룡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바다 동물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자동차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별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3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정답 8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Q8. 고래밥 과자는 무슨 모양일까?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② 바다 동물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고래·문어·거북이 등 바다 친구들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Q9 / 10</a:t>
            </a:r>
          </a:p>
        </p:txBody>
      </p:sp>
      <p:sp>
        <p:nvSpPr>
          <p:cNvPr id="4" name="Oval 3"/>
          <p:cNvSpPr/>
          <p:nvPr/>
        </p:nvSpPr>
        <p:spPr>
          <a:xfrm>
            <a:off x="15179040" y="457200"/>
            <a:ext cx="2011680" cy="201168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310804" y="1419261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909261" y="1380911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40061" y="1648388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688105" y="1423104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831321" y="1138070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733520" y="2011680"/>
            <a:ext cx="1188720" cy="118872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430265" y="2551188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305133" y="2701133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513610" y="2512873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335326" y="2549904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275672" y="2661155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0" y="237744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Q9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양파링은 어떤 모양일까?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네모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고리(링)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4A2616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세모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3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정답 9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Q9. 양파링은 어떤 모양일까?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② 고리(링)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이름 그대로 링 모양!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Q10 / 10</a:t>
            </a:r>
          </a:p>
        </p:txBody>
      </p:sp>
      <p:sp>
        <p:nvSpPr>
          <p:cNvPr id="4" name="Oval 3"/>
          <p:cNvSpPr/>
          <p:nvPr/>
        </p:nvSpPr>
        <p:spPr>
          <a:xfrm>
            <a:off x="15179040" y="457200"/>
            <a:ext cx="2011680" cy="201168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36363" y="1395935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62204" y="1806535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284677" y="1741190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529058" y="1120644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44157" y="1808311"/>
            <a:ext cx="241401" cy="241401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733520" y="2011680"/>
            <a:ext cx="1188720" cy="1188720"/>
          </a:xfrm>
          <a:prstGeom prst="ellipse">
            <a:avLst/>
          </a:prstGeom>
          <a:solidFill>
            <a:srgbClr val="D9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470526" y="2330931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043551" y="2512201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014382" y="2392450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014724" y="2647331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437204" y="2782580"/>
            <a:ext cx="142646" cy="142646"/>
          </a:xfrm>
          <a:prstGeom prst="ellipse">
            <a:avLst/>
          </a:prstGeom>
          <a:solidFill>
            <a:srgbClr val="3B1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630400" y="2377440"/>
            <a:ext cx="822960" cy="822960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Q10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11월 11일은 무슨 과자 데이일까?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863840"/>
            <a:ext cx="8229600" cy="1463040"/>
          </a:xfrm>
          <a:prstGeom prst="roundRect">
            <a:avLst>
              <a:gd name="adj" fmla="val 2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786384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힌트  </a:t>
            </a:r>
            <a:r>
              <a:rPr sz="5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3글자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3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4번째 방 · 과자 퀴즈   정답 10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E8C3A8"/>
                </a:solidFill>
                <a:latin typeface="Black and White Picture"/>
                <a:ea typeface="Black and White Picture"/>
                <a:cs typeface="Black and White Picture"/>
              </a:rPr>
              <a:t>Q10. 11월 11일은 무슨 과자 데이일까?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빼빼로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1이 네 개 = 길쭉한 빼빼로!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6B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3E6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solidFill>
                  <a:srgbClr val="FF8FB1"/>
                </a:solidFill>
                <a:latin typeface="Black and White Picture"/>
                <a:ea typeface="Black and White Picture"/>
                <a:cs typeface="Black and White Picture"/>
              </a:rPr>
              <a:t>4번째 방 클리어!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8288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열쇠 조각 4 획득!</a:t>
            </a:r>
          </a:p>
        </p:txBody>
      </p:sp>
      <p:sp>
        <p:nvSpPr>
          <p:cNvPr id="4" name="Oval 3"/>
          <p:cNvSpPr/>
          <p:nvPr/>
        </p:nvSpPr>
        <p:spPr>
          <a:xfrm>
            <a:off x="6766560" y="3749039"/>
            <a:ext cx="1806854" cy="180685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08616" y="4291096"/>
            <a:ext cx="722741" cy="722741"/>
          </a:xfrm>
          <a:prstGeom prst="ellipse">
            <a:avLst/>
          </a:prstGeom>
          <a:solidFill>
            <a:srgbClr val="15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83071" y="4507918"/>
            <a:ext cx="3038368" cy="2890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90073" y="4742809"/>
            <a:ext cx="332841" cy="5420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50854" y="4742809"/>
            <a:ext cx="332841" cy="722741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901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901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475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832104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>
                <a:solidFill>
                  <a:srgbClr val="C9BD98"/>
                </a:solidFill>
                <a:latin typeface="Black and White Picture"/>
                <a:ea typeface="Black and White Picture"/>
                <a:cs typeface="Black and White Picture"/>
              </a:rPr>
              <a:t>모은 조각 4 / 7  ·  다음 방으로 이동!</a:t>
            </a:r>
          </a:p>
        </p:txBody>
      </p:sp>
    </p:spTree>
  </p:cSld>
  <p:clrMapOvr>
    <a:masterClrMapping/>
  </p:clrMapOvr>
  <p:transition spd="slow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63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6642080" cy="8823960"/>
          </a:xfrm>
          <a:prstGeom prst="roundRect">
            <a:avLst>
              <a:gd name="adj" fmla="val 5000"/>
            </a:avLst>
          </a:prstGeom>
          <a:noFill/>
          <a:ln w="1016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2194560" cy="731520"/>
          </a:xfrm>
          <a:prstGeom prst="roundRect">
            <a:avLst>
              <a:gd name="adj" fmla="val 30000"/>
            </a:avLst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오늘의 짤</a:t>
            </a:r>
          </a:p>
        </p:txBody>
      </p:sp>
      <p:sp>
        <p:nvSpPr>
          <p:cNvPr id="5" name="Explosion 4"/>
          <p:cNvSpPr/>
          <p:nvPr/>
        </p:nvSpPr>
        <p:spPr>
          <a:xfrm rot="480000">
            <a:off x="13990320" y="1005840"/>
            <a:ext cx="3108960" cy="2377440"/>
          </a:xfrm>
          <a:prstGeom prst="irregularSeal1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480000">
            <a:off x="13990320" y="1005840"/>
            <a:ext cx="31089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>
                <a:solidFill>
                  <a:srgbClr val="111111"/>
                </a:solidFill>
                <a:latin typeface="Black and White Picture"/>
                <a:ea typeface="Black and White Picture"/>
                <a:cs typeface="Black and White Picture"/>
              </a:rPr>
              <a:t>GO!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017520"/>
            <a:ext cx="1426464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>
                <a:ln w="88900">
                  <a:solidFill>
                    <a:srgbClr val="111111"/>
                  </a:solidFill>
                </a:ln>
                <a:solidFill>
                  <a:srgbClr val="FFE14D"/>
                </a:solidFill>
                <a:latin typeface="Black and White Picture"/>
                <a:ea typeface="Black and White Picture"/>
                <a:cs typeface="Black and White Picture"/>
              </a:rPr>
              <a:t>가보자고~!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315200"/>
            <a:ext cx="14264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ln w="50800">
                  <a:solidFill>
                    <a:srgbClr val="111111"/>
                  </a:solidFill>
                </a:ln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이제 배운 거 써먹을 시간</a:t>
            </a:r>
          </a:p>
        </p:txBody>
      </p:sp>
    </p:spTree>
  </p:cSld>
  <p:clrMapOvr>
    <a:masterClrMapping/>
  </p:clrMapOvr>
  <p:transition spd="slow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0"/>
            <a:ext cx="18288000" cy="1143000"/>
          </a:xfrm>
          <a:prstGeom prst="rect">
            <a:avLst/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door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97280"/>
            <a:ext cx="4315968" cy="83210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 rot="19500000">
            <a:off x="17063278" y="1516271"/>
            <a:ext cx="1097280" cy="54864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240000">
            <a:off x="10574395" y="3570421"/>
            <a:ext cx="1097280" cy="54864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400000">
            <a:off x="9764945" y="1665032"/>
            <a:ext cx="1097280" cy="54864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660000">
            <a:off x="16520682" y="1940862"/>
            <a:ext cx="1097280" cy="54864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2520000">
            <a:off x="16454911" y="4824047"/>
            <a:ext cx="1097280" cy="54864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18360000">
            <a:off x="16486864" y="4487791"/>
            <a:ext cx="1097280" cy="54864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18960000">
            <a:off x="9714709" y="8184725"/>
            <a:ext cx="1097280" cy="54864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9380000">
            <a:off x="9685752" y="2541964"/>
            <a:ext cx="1097280" cy="54864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4020000">
            <a:off x="17295159" y="3632308"/>
            <a:ext cx="1097280" cy="54864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18240000">
            <a:off x="16810448" y="1085637"/>
            <a:ext cx="1097280" cy="54864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276320" y="548640"/>
            <a:ext cx="1371600" cy="1371600"/>
          </a:xfrm>
          <a:prstGeom prst="ellipse">
            <a:avLst/>
          </a:prstGeom>
          <a:solidFill>
            <a:srgbClr val="F2D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2103120"/>
            <a:ext cx="8595360" cy="5120640"/>
          </a:xfrm>
          <a:prstGeom prst="roundRect">
            <a:avLst>
              <a:gd name="adj" fmla="val 8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5603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ROOM 5 /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7472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292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온대기후 퀴즈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309360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사계절이 흐르는 초록 숲의 방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0"/>
            <a:ext cx="18288000" cy="1143000"/>
          </a:xfrm>
          <a:prstGeom prst="rect">
            <a:avLst/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FFF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4389120"/>
            <a:ext cx="3767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0">
                <a:solidFill>
                  <a:srgbClr val="B8E36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5" name="!!door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325880"/>
            <a:ext cx="1143000" cy="81381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 rot="17640000">
            <a:off x="10405457" y="2529711"/>
            <a:ext cx="1097280" cy="54864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760000">
            <a:off x="10239344" y="5259593"/>
            <a:ext cx="1097280" cy="54864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2160000">
            <a:off x="17318070" y="458670"/>
            <a:ext cx="1097280" cy="54864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21060000">
            <a:off x="10533281" y="713424"/>
            <a:ext cx="1097280" cy="54864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20460000">
            <a:off x="17502991" y="771151"/>
            <a:ext cx="1097280" cy="54864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3480000">
            <a:off x="10538891" y="2698993"/>
            <a:ext cx="1097280" cy="54864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7940000">
            <a:off x="10277282" y="8368214"/>
            <a:ext cx="1097280" cy="54864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21120000">
            <a:off x="9616635" y="4503664"/>
            <a:ext cx="1097280" cy="54864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4140000">
            <a:off x="16003768" y="5648507"/>
            <a:ext cx="1097280" cy="54864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20880000">
            <a:off x="16502052" y="5899825"/>
            <a:ext cx="1097280" cy="54864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276320" y="548640"/>
            <a:ext cx="1371600" cy="1371600"/>
          </a:xfrm>
          <a:prstGeom prst="ellipse">
            <a:avLst/>
          </a:prstGeom>
          <a:solidFill>
            <a:srgbClr val="F2D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2103120"/>
            <a:ext cx="8595360" cy="5120640"/>
          </a:xfrm>
          <a:prstGeom prst="roundRect">
            <a:avLst>
              <a:gd name="adj" fmla="val 8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5603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ROOM 5 /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7472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끼이이익…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29200"/>
            <a:ext cx="7680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문이 열렸다! 안으로 들어가자</a:t>
            </a:r>
          </a:p>
        </p:txBody>
      </p:sp>
    </p:spTree>
  </p:cSld>
  <p:clrMapOvr>
    <a:masterClrMapping/>
  </p:clrMapOvr>
  <p:transition spd="slow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99280" y="2194560"/>
            <a:ext cx="731520" cy="731520"/>
          </a:xfrm>
          <a:prstGeom prst="ellipse">
            <a:avLst/>
          </a:prstGeom>
          <a:solidFill>
            <a:srgbClr val="F2D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280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4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온대기후 방의 규칙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문제는 총 10개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앞에서 배운 온대기후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기본 문제 (OX · 객관식)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700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276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276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답은 종이에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276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O / X 또는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번호를 종이에 적는다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3104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9680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1F4D2B"/>
                </a:solidFill>
                <a:latin typeface="Black and White Picture"/>
                <a:ea typeface="Black and White Picture"/>
                <a:cs typeface="Black and White Pictur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9680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1F4D2B"/>
                </a:solidFill>
                <a:latin typeface="Black and White Picture"/>
                <a:ea typeface="Black and White Picture"/>
                <a:cs typeface="Black and White Picture"/>
              </a:rPr>
              <a:t>틀리면 오답!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9680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1F4D2B"/>
                </a:solidFill>
                <a:latin typeface="Black and White Picture"/>
                <a:ea typeface="Black and White Picture"/>
                <a:cs typeface="Black and White Picture"/>
              </a:rPr>
              <a:t>답이 틀리면 오답 처리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1F4D2B"/>
                </a:solidFill>
                <a:latin typeface="Black and White Picture"/>
                <a:ea typeface="Black and White Picture"/>
                <a:cs typeface="Black and White Picture"/>
              </a:rPr>
              <a:t>생명 1개 감소</a:t>
            </a:r>
          </a:p>
        </p:txBody>
      </p:sp>
      <p:sp>
        <p:nvSpPr>
          <p:cNvPr id="22" name="Heart 21"/>
          <p:cNvSpPr/>
          <p:nvPr/>
        </p:nvSpPr>
        <p:spPr>
          <a:xfrm>
            <a:off x="822960" y="8915400"/>
            <a:ext cx="502920" cy="452628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8869680"/>
            <a:ext cx="1554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앞에서 배운 내용을 떠올려 보세요!</a:t>
            </a:r>
          </a:p>
        </p:txBody>
      </p:sp>
    </p:spTree>
  </p:cSld>
  <p:clrMapOvr>
    <a:masterClrMapping/>
  </p:clrMapOvr>
  <p:transition spd="slow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Q1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99280" y="2194560"/>
            <a:ext cx="731520" cy="731520"/>
          </a:xfrm>
          <a:prstGeom prst="ellipse">
            <a:avLst/>
          </a:prstGeom>
          <a:solidFill>
            <a:srgbClr val="F2D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O / X  온대기후는 사계절의 변화가 뚜렷하다.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X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63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정답 1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B8E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Q1. O / X  온대기후는 사계절의 변화가 뚜렷하다.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여름·겨울의 기온 차가 있어 사계절이 나타나요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Q2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99280" y="2194560"/>
            <a:ext cx="731520" cy="731520"/>
          </a:xfrm>
          <a:prstGeom prst="ellipse">
            <a:avLst/>
          </a:prstGeom>
          <a:solidFill>
            <a:srgbClr val="F2D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온대기후의 가장 추운 달 평균기온은?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-3℃ ~ 18℃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18℃ 이상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-3℃ 미만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30℃ 이상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63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정답 2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B8E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Q2. 온대기후의 가장 추운 달 평균기온은?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① -3℃ ~ 18℃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18℃ 이상은 열대, -3℃ 미만은 냉대기후!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Q3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99280" y="2194560"/>
            <a:ext cx="731520" cy="731520"/>
          </a:xfrm>
          <a:prstGeom prst="ellipse">
            <a:avLst/>
          </a:prstGeom>
          <a:solidFill>
            <a:srgbClr val="F2D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온대기후는 주로 어느 위도에 나타날까?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0° ~ 10°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30° ~ 60°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70° ~ 90°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적도 바로 위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63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정답 3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B8E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Q3. 온대기후는 주로 어느 위도에 나타날까?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48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② 30° ~ 60°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적도와 극지방 사이, 중위도 지역!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Q4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99280" y="2194560"/>
            <a:ext cx="731520" cy="731520"/>
          </a:xfrm>
          <a:prstGeom prst="ellipse">
            <a:avLst/>
          </a:prstGeom>
          <a:solidFill>
            <a:srgbClr val="F2D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지중해성 기후의 여름 날씨는?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덥고 건조하다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춥고 눈이 온다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서늘하고 흐리다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매일 비가 온다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63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정답 4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B8E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Q4. 지중해성 기후의 여름 날씨는?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22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① 덥고 건조하다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여름엔 덥고 건조, 겨울엔 온화하고 비!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Q5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99280" y="2194560"/>
            <a:ext cx="731520" cy="731520"/>
          </a:xfrm>
          <a:prstGeom prst="ellipse">
            <a:avLst/>
          </a:prstGeom>
          <a:solidFill>
            <a:srgbClr val="F2D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Q5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지중해성 기후의 겨울 날씨는?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온화하고 비가 온다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매우 춥고 건조하다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눈이 아주 많이 온다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덥고 건조하다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63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정답 5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B8E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Q5. 지중해성 기후의 겨울 날씨는?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3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① 온화하고 비가 온다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겨울에 비가 많이 오는 게 특징!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Q6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99280" y="2194560"/>
            <a:ext cx="731520" cy="731520"/>
          </a:xfrm>
          <a:prstGeom prst="ellipse">
            <a:avLst/>
          </a:prstGeom>
          <a:solidFill>
            <a:srgbClr val="F2D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Q6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서안 해양성 기후가 나타나는 대표 지역은?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서유럽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사하라 사막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시베리아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아마존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63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정답 6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B8E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Q6. 서안 해양성 기후가 나타나는 대표 지역은?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① 서유럽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영국 · 프랑스 · 독일 등 서유럽!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Q7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99280" y="2194560"/>
            <a:ext cx="731520" cy="731520"/>
          </a:xfrm>
          <a:prstGeom prst="ellipse">
            <a:avLst/>
          </a:prstGeom>
          <a:solidFill>
            <a:srgbClr val="F2D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Q7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비가 자주 오는 영국 사람들이 늘 챙기는 것은?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우산 · 우비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부채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털모자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모래 마스크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63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정답 7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B8E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Q7. 비가 자주 오는 영국 사람들이 늘 챙기는 것은?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71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① 우산 · 우비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서안 해양성 기후라 비가 자주 와요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Q8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99280" y="2194560"/>
            <a:ext cx="731520" cy="731520"/>
          </a:xfrm>
          <a:prstGeom prst="ellipse">
            <a:avLst/>
          </a:prstGeom>
          <a:solidFill>
            <a:srgbClr val="F2D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Q8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지중해성 기후 지역에서 많이 기르는 작물은?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올리브 · 포도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카카오 · 커피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바나나 · 파인애플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순록 이끼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63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정답 8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B8E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Q8. 지중해성 기후 지역에서 많이 기르는 작물은?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41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① 올리브 · 포도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건조한 여름에 강한 올리브·포도·오렌지!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Q9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99280" y="2194560"/>
            <a:ext cx="731520" cy="731520"/>
          </a:xfrm>
          <a:prstGeom prst="ellipse">
            <a:avLst/>
          </a:prstGeom>
          <a:solidFill>
            <a:srgbClr val="F2D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Q9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O / X  우리나라는 온대 계절풍 기후의 영향을</a:t>
            </a:r>
          </a:p>
          <a:p>
            <a:pPr algn="l">
              <a:lnSpc>
                <a:spcPct val="100000"/>
              </a:lnSpc>
            </a:pPr>
            <a:r>
              <a:rPr sz="5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받는다.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X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63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정답 9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B8E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Q9. O / X  우리나라는 온대 계절풍 기후의 영향을 받는다.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여름엔 덥고 비가 많고, 겨울엔 춥고 건조해요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Q10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4E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7FC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099280" y="2194560"/>
            <a:ext cx="731520" cy="731520"/>
          </a:xfrm>
          <a:prstGeom prst="ellipse">
            <a:avLst/>
          </a:prstGeom>
          <a:solidFill>
            <a:srgbClr val="F2D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Q10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O / X  온대 계절풍 기후는 여름과 겨울의 기온</a:t>
            </a:r>
          </a:p>
          <a:p>
            <a:pPr algn="l">
              <a:lnSpc>
                <a:spcPct val="100000"/>
              </a:lnSpc>
            </a:pPr>
            <a:r>
              <a:rPr sz="5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차가 작다.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B8E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1F4D2B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X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63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5번째 방 · 온대기후 퀴즈   정답 10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B8E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B5D3B9"/>
                </a:solidFill>
                <a:latin typeface="Black and White Picture"/>
                <a:ea typeface="Black and White Picture"/>
                <a:cs typeface="Black and White Picture"/>
              </a:rPr>
              <a:t>Q10. O / X  온대 계절풍 기후는 여름과 겨울의 기온 차가 작다.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계절풍 때문에 기온 차(연교차)가 커요!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2B6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3FAEA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solidFill>
                  <a:srgbClr val="B8E36A"/>
                </a:solidFill>
                <a:latin typeface="Black and White Picture"/>
                <a:ea typeface="Black and White Picture"/>
                <a:cs typeface="Black and White Picture"/>
              </a:rPr>
              <a:t>5번째 방 클리어!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8288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열쇠 조각 5 획득!</a:t>
            </a:r>
          </a:p>
        </p:txBody>
      </p:sp>
      <p:sp>
        <p:nvSpPr>
          <p:cNvPr id="4" name="Oval 3"/>
          <p:cNvSpPr/>
          <p:nvPr/>
        </p:nvSpPr>
        <p:spPr>
          <a:xfrm>
            <a:off x="6766560" y="3749039"/>
            <a:ext cx="1806854" cy="180685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08616" y="4291096"/>
            <a:ext cx="722741" cy="722741"/>
          </a:xfrm>
          <a:prstGeom prst="ellipse">
            <a:avLst/>
          </a:prstGeom>
          <a:solidFill>
            <a:srgbClr val="15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83071" y="4507918"/>
            <a:ext cx="3038368" cy="2890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90073" y="4742809"/>
            <a:ext cx="332841" cy="5420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50854" y="4742809"/>
            <a:ext cx="332841" cy="722741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901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901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475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832104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>
                <a:solidFill>
                  <a:srgbClr val="C9BD98"/>
                </a:solidFill>
                <a:latin typeface="Black and White Picture"/>
                <a:ea typeface="Black and White Picture"/>
                <a:cs typeface="Black and White Picture"/>
              </a:rPr>
              <a:t>모은 조각 5 / 7  ·  다음 방으로 이동!</a:t>
            </a:r>
          </a:p>
        </p:txBody>
      </p:sp>
    </p:spTree>
  </p:cSld>
  <p:clrMapOvr>
    <a:masterClrMapping/>
  </p:clrMapOvr>
  <p:transition spd="slow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0"/>
            <a:ext cx="18288000" cy="1143000"/>
          </a:xfrm>
          <a:prstGeom prst="rect">
            <a:avLst/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door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97280"/>
            <a:ext cx="4315968" cy="83210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 rot="1080000">
            <a:off x="9945906" y="3622249"/>
            <a:ext cx="1097280" cy="54864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21300000">
            <a:off x="10588816" y="934846"/>
            <a:ext cx="1097280" cy="54864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20000">
            <a:off x="15915371" y="7370734"/>
            <a:ext cx="1097280" cy="54864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9800000">
            <a:off x="10203475" y="4062849"/>
            <a:ext cx="1097280" cy="54864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4200000">
            <a:off x="15825413" y="8104986"/>
            <a:ext cx="1097280" cy="54864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20160000">
            <a:off x="15878966" y="2118865"/>
            <a:ext cx="1097280" cy="54864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20460000">
            <a:off x="16482142" y="2610222"/>
            <a:ext cx="1097280" cy="54864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8720000">
            <a:off x="9850828" y="2491451"/>
            <a:ext cx="1097280" cy="54864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420000">
            <a:off x="16838604" y="546764"/>
            <a:ext cx="1097280" cy="54864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1740000">
            <a:off x="10234547" y="5656829"/>
            <a:ext cx="1097280" cy="54864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loud 14"/>
          <p:cNvSpPr/>
          <p:nvPr/>
        </p:nvSpPr>
        <p:spPr>
          <a:xfrm>
            <a:off x="15910559" y="457200"/>
            <a:ext cx="2194560" cy="1005840"/>
          </a:xfrm>
          <a:prstGeom prst="cloud">
            <a:avLst/>
          </a:prstGeom>
          <a:solidFill>
            <a:srgbClr val="6B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900000">
            <a:off x="16276320" y="1645920"/>
            <a:ext cx="54864" cy="640080"/>
          </a:xfrm>
          <a:prstGeom prst="rect">
            <a:avLst/>
          </a:prstGeom>
          <a:solidFill>
            <a:srgbClr val="9F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900000">
            <a:off x="16824960" y="1645920"/>
            <a:ext cx="54864" cy="640080"/>
          </a:xfrm>
          <a:prstGeom prst="rect">
            <a:avLst/>
          </a:prstGeom>
          <a:solidFill>
            <a:srgbClr val="9F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900000">
            <a:off x="17373600" y="1645920"/>
            <a:ext cx="54864" cy="640080"/>
          </a:xfrm>
          <a:prstGeom prst="rect">
            <a:avLst/>
          </a:prstGeom>
          <a:solidFill>
            <a:srgbClr val="9F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2103120"/>
            <a:ext cx="8595360" cy="5120640"/>
          </a:xfrm>
          <a:prstGeom prst="roundRect">
            <a:avLst>
              <a:gd name="adj" fmla="val 8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25603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ROOM 6 /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47472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292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온대기후 심화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6309360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폭풍이 몰아치는 가을 숲 · 난이도 UP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0"/>
            <a:ext cx="18288000" cy="1143000"/>
          </a:xfrm>
          <a:prstGeom prst="rect">
            <a:avLst/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FFF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4389120"/>
            <a:ext cx="3767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0">
                <a:solidFill>
                  <a:srgbClr val="FF8A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5" name="!!door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325880"/>
            <a:ext cx="1143000" cy="81381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 rot="19620000">
            <a:off x="17071195" y="1568448"/>
            <a:ext cx="1097280" cy="54864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3540000">
            <a:off x="17270318" y="6270862"/>
            <a:ext cx="1097280" cy="54864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20880000">
            <a:off x="9741321" y="7015642"/>
            <a:ext cx="1097280" cy="54864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1560000">
            <a:off x="15891849" y="8086717"/>
            <a:ext cx="1097280" cy="54864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21120000">
            <a:off x="10441902" y="5404828"/>
            <a:ext cx="1097280" cy="54864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3480000">
            <a:off x="10093351" y="6386841"/>
            <a:ext cx="1097280" cy="54864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3060000">
            <a:off x="10504301" y="6366423"/>
            <a:ext cx="1097280" cy="54864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20520000">
            <a:off x="15948466" y="2255014"/>
            <a:ext cx="1097280" cy="54864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1620000">
            <a:off x="16948286" y="4340427"/>
            <a:ext cx="1097280" cy="54864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20400000">
            <a:off x="17400928" y="6537353"/>
            <a:ext cx="1097280" cy="54864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loud 15"/>
          <p:cNvSpPr/>
          <p:nvPr/>
        </p:nvSpPr>
        <p:spPr>
          <a:xfrm>
            <a:off x="15910559" y="457200"/>
            <a:ext cx="2194560" cy="1005840"/>
          </a:xfrm>
          <a:prstGeom prst="cloud">
            <a:avLst/>
          </a:prstGeom>
          <a:solidFill>
            <a:srgbClr val="6B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900000">
            <a:off x="16276320" y="1645920"/>
            <a:ext cx="54864" cy="640080"/>
          </a:xfrm>
          <a:prstGeom prst="rect">
            <a:avLst/>
          </a:prstGeom>
          <a:solidFill>
            <a:srgbClr val="9F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900000">
            <a:off x="16824960" y="1645920"/>
            <a:ext cx="54864" cy="640080"/>
          </a:xfrm>
          <a:prstGeom prst="rect">
            <a:avLst/>
          </a:prstGeom>
          <a:solidFill>
            <a:srgbClr val="9F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900000">
            <a:off x="17373600" y="1645920"/>
            <a:ext cx="54864" cy="640080"/>
          </a:xfrm>
          <a:prstGeom prst="rect">
            <a:avLst/>
          </a:prstGeom>
          <a:solidFill>
            <a:srgbClr val="9F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2103120"/>
            <a:ext cx="8595360" cy="5120640"/>
          </a:xfrm>
          <a:prstGeom prst="roundRect">
            <a:avLst>
              <a:gd name="adj" fmla="val 8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25603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ROOM 6 /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47472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끼이이익…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29200"/>
            <a:ext cx="7680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문이 열렸다! 안으로 들어가자</a:t>
            </a:r>
          </a:p>
        </p:txBody>
      </p:sp>
    </p:spTree>
  </p:cSld>
  <p:clrMapOvr>
    <a:masterClrMapping/>
  </p:clrMapOvr>
  <p:transition spd="slow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280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4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심화 방의 규칙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문제는 총 10개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온대기후의 "이유"를 묻는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어려운 문제 10개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700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276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76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답은 종이에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276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보기 중 알맞은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번호를 종이에 적는다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13104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9680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2E1D14"/>
                </a:solidFill>
                <a:latin typeface="Black and White Picture"/>
                <a:ea typeface="Black and White Picture"/>
                <a:cs typeface="Black and White Pictur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9680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2E1D14"/>
                </a:solidFill>
                <a:latin typeface="Black and White Picture"/>
                <a:ea typeface="Black and White Picture"/>
                <a:cs typeface="Black and White Picture"/>
              </a:rPr>
              <a:t>틀리면 오답!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9680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2E1D14"/>
                </a:solidFill>
                <a:latin typeface="Black and White Picture"/>
                <a:ea typeface="Black and White Picture"/>
                <a:cs typeface="Black and White Picture"/>
              </a:rPr>
              <a:t>답이 틀리면 오답 처리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2E1D14"/>
                </a:solidFill>
                <a:latin typeface="Black and White Picture"/>
                <a:ea typeface="Black and White Picture"/>
                <a:cs typeface="Black and White Picture"/>
              </a:rPr>
              <a:t>생명 1개 감소</a:t>
            </a:r>
          </a:p>
        </p:txBody>
      </p:sp>
      <p:sp>
        <p:nvSpPr>
          <p:cNvPr id="21" name="Heart 20"/>
          <p:cNvSpPr/>
          <p:nvPr/>
        </p:nvSpPr>
        <p:spPr>
          <a:xfrm>
            <a:off x="822960" y="8915400"/>
            <a:ext cx="502920" cy="452628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8869680"/>
            <a:ext cx="1554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난이도 UP! 왜 그런지까지 생각해야 풀 수 있어요</a:t>
            </a:r>
          </a:p>
        </p:txBody>
      </p:sp>
    </p:spTree>
  </p:cSld>
  <p:clrMapOvr>
    <a:masterClrMapping/>
  </p:clrMapOvr>
  <p:transition spd="slow">
    <p:fade/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Q1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서안 해양성 기후가 1년 내내 비가 고르고</a:t>
            </a:r>
          </a:p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겨울에도 따뜻한 이유는?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편서풍과 난류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계절풍과 한류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무역풍과 한류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극동풍과 빙하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정답 1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Q1. 서안 해양성 기후가 1년 내내 비가 고르고 겨울에도 따뜻한 이유는?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1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① 편서풍과 난류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바다(난류) 위를 지나온 편서풍이 1년 내내 불어와요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Q2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지중해성 기후의 여름이 건조한 이유는?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아열대 고압대의 영향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편서풍의 영향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적도 저압대의 영향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높은 산맥 때문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정답 2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Q2. 지중해성 기후의 여름이 건조한 이유는?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77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① 아열대 고압대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여름엔 고압대가 올라와 비구름이 생기기 어려워요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Q3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동아시아의 여름이 덥고 비가 많은 이유는?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바다에서 부는 여름 계절풍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사막에서 부는 바람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극지방의 찬 바람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편서풍과 난류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정답 3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Q3. 동아시아의 여름이 덥고 비가 많은 이유는?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31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① 여름 계절풍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바다에서 덥고 습한 계절풍이 불어와요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Q4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지중해성 기후 지역에 비가 주로 내리는 계절은?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겨울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여름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1년 내내 고르게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정답 4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Q4. 지중해성 기후 지역에 비가 주로 내리는 계절은?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① 겨울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겨울엔 편서풍의 영향으로 비가 와요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Q5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Q5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지중해 지역의 집이 흰 벽과 작은 창문을 가진</a:t>
            </a:r>
          </a:p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이유는?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강한 햇빛 반사 · 열 차단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추위를 막으려고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홍수에 대비하려고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모래바람을 막으려고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정답 5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Q5. 지중해 지역의 집이 흰 벽과 작은 창문을 가진 이유는?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1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① 햇빛 · 열 차단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덥고 건조한 여름의 강한 햇빛을 막기 위해서!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6642080" cy="8823960"/>
          </a:xfrm>
          <a:prstGeom prst="roundRect">
            <a:avLst>
              <a:gd name="adj" fmla="val 5000"/>
            </a:avLst>
          </a:prstGeom>
          <a:noFill/>
          <a:ln w="1016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2194560" cy="731520"/>
          </a:xfrm>
          <a:prstGeom prst="roundRect">
            <a:avLst>
              <a:gd name="adj" fmla="val 30000"/>
            </a:avLst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오늘의 짤</a:t>
            </a:r>
          </a:p>
        </p:txBody>
      </p:sp>
      <p:sp>
        <p:nvSpPr>
          <p:cNvPr id="5" name="Explosion 4"/>
          <p:cNvSpPr/>
          <p:nvPr/>
        </p:nvSpPr>
        <p:spPr>
          <a:xfrm rot="480000">
            <a:off x="13990320" y="1005840"/>
            <a:ext cx="3108960" cy="2377440"/>
          </a:xfrm>
          <a:prstGeom prst="irregularSeal1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480000">
            <a:off x="13990320" y="1005840"/>
            <a:ext cx="31089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>
                <a:solidFill>
                  <a:srgbClr val="111111"/>
                </a:solidFill>
                <a:latin typeface="Black and White Picture"/>
                <a:ea typeface="Black and White Picture"/>
                <a:cs typeface="Black and White Picture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017520"/>
            <a:ext cx="1426464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>
                <a:ln w="88900">
                  <a:solidFill>
                    <a:srgbClr val="111111"/>
                  </a:solidFill>
                </a:ln>
                <a:solidFill>
                  <a:srgbClr val="FFE14D"/>
                </a:solidFill>
                <a:latin typeface="Black and White Picture"/>
                <a:ea typeface="Black and White Picture"/>
                <a:cs typeface="Black and White Picture"/>
              </a:rPr>
              <a:t>어…?</a:t>
            </a:r>
          </a:p>
          <a:p>
            <a:pPr algn="ctr">
              <a:lnSpc>
                <a:spcPct val="100000"/>
              </a:lnSpc>
            </a:pPr>
            <a:r>
              <a:rPr sz="12000">
                <a:ln w="88900">
                  <a:solidFill>
                    <a:srgbClr val="111111"/>
                  </a:solidFill>
                </a:ln>
                <a:solidFill>
                  <a:srgbClr val="FFE14D"/>
                </a:solidFill>
                <a:latin typeface="Black and White Picture"/>
                <a:ea typeface="Black and White Picture"/>
                <a:cs typeface="Black and White Picture"/>
              </a:rPr>
              <a:t>이거 배운 건데…?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315200"/>
            <a:ext cx="14264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ln w="50800">
                  <a:solidFill>
                    <a:srgbClr val="111111"/>
                  </a:solidFill>
                </a:ln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뇌정지 온 사람 손!</a:t>
            </a:r>
          </a:p>
        </p:txBody>
      </p:sp>
    </p:spTree>
  </p:cSld>
  <p:clrMapOvr>
    <a:masterClrMapping/>
  </p:clrMapOvr>
  <p:transition spd="slow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Q6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Q6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서안 해양성 기후 지역에서 목초가 잘 자라</a:t>
            </a:r>
          </a:p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발달한 농업은?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낙농업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벼농사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플랜테이션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유목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정답 6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Q6. 서안 해양성 기후 지역에서 목초가 잘 자라 발달한 농업은?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① 낙농업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풀이 잘 자라 소를 키워 우유·치즈를 생산해요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Q7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Q7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지중해성 기후에서 여름 건조를 견디는 나무를</a:t>
            </a:r>
          </a:p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기르는 농업은?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수목 농업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벼농사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이동식 화전 농업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유목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정답 7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Q7. 지중해성 기후에서 여름 건조를 견디는 나무를 기르는 농업은?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① 수목 농업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올리브·포도·코르크 참나무 등을 길러요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Q8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Q8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와인병 마개를 만드는, 지중해 연안에서 자라는</a:t>
            </a:r>
          </a:p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나무는?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코르크 참나무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야자나무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자작나무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대나무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정답 8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Q8. 와인병 마개를 만드는, 지중해 연안에서 자라는 나무는?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7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① 코르크 참나무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두꺼운 껍질로 건조한 여름을 견뎌요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Q9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Q9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온대 계절풍 기후 지역에서 벼농사가 발달한</a:t>
            </a:r>
          </a:p>
          <a:p>
            <a:pPr algn="l">
              <a:lnSpc>
                <a:spcPct val="100000"/>
              </a:lnSpc>
            </a:pPr>
            <a:r>
              <a:rPr sz="5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이유는?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여름이 고온 다습해서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겨울이 따뜻해서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1년 내내 건조해서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바람이 거의 없어서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정답 9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Q9. 온대 계절풍 기후 지역에서 벼농사가 발달한 이유는?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3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① 여름이 고온 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벼는 덥고 비가 많은 여름에 잘 자라요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Q10 / 10</a:t>
            </a:r>
          </a:p>
        </p:txBody>
      </p:sp>
      <p:sp>
        <p:nvSpPr>
          <p:cNvPr id="4" name="Oval 3"/>
          <p:cNvSpPr/>
          <p:nvPr/>
        </p:nvSpPr>
        <p:spPr>
          <a:xfrm rot="19800000">
            <a:off x="15087600" y="45720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500000">
            <a:off x="16367759" y="1097280"/>
            <a:ext cx="1280160" cy="640080"/>
          </a:xfrm>
          <a:prstGeom prst="ellipse">
            <a:avLst/>
          </a:prstGeom>
          <a:solidFill>
            <a:srgbClr val="D94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3600000">
            <a:off x="15453359" y="2011680"/>
            <a:ext cx="1280160" cy="640080"/>
          </a:xfrm>
          <a:prstGeom prst="ellipse">
            <a:avLst/>
          </a:prstGeom>
          <a:solidFill>
            <a:srgbClr val="F2B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00">
            <a:off x="17007840" y="182880"/>
            <a:ext cx="1280160" cy="6400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Q10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기온의 연교차가 더 큰 기후는?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온대 계절풍 기후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612648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55480" y="640080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6400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12648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서안 해양성 기후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둘이 똑같다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7680960"/>
            <a:ext cx="8183879" cy="1371600"/>
          </a:xfrm>
          <a:prstGeom prst="roundRect">
            <a:avLst>
              <a:gd name="adj" fmla="val 2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55480" y="7955280"/>
            <a:ext cx="822960" cy="82296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795528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>
                <a:solidFill>
                  <a:srgbClr val="2E1D14"/>
                </a:solidFill>
                <a:latin typeface="Arial"/>
                <a:ea typeface="Arial"/>
                <a:cs typeface="Arial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7680960"/>
            <a:ext cx="6675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알 수 없다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6번째 방 · 온대기후 심화   정답 10 / 10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정답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D9B79C"/>
                </a:solidFill>
                <a:latin typeface="Black and White Picture"/>
                <a:ea typeface="Black and White Picture"/>
                <a:cs typeface="Black and White Picture"/>
              </a:rPr>
              <a:t>Q10. 기온의 연교차가 더 큰 기후는?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5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① 온대 계절풍 기후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바다의 영향을 받는 서안 해양성은 연교차가 작아요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FF1E4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solidFill>
                  <a:srgbClr val="FF8A3D"/>
                </a:solidFill>
                <a:latin typeface="Black and White Picture"/>
                <a:ea typeface="Black and White Picture"/>
                <a:cs typeface="Black and White Picture"/>
              </a:rPr>
              <a:t>6번째 방 클리어!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8288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열쇠 조각 6 획득!</a:t>
            </a:r>
          </a:p>
        </p:txBody>
      </p:sp>
      <p:sp>
        <p:nvSpPr>
          <p:cNvPr id="4" name="Oval 3"/>
          <p:cNvSpPr/>
          <p:nvPr/>
        </p:nvSpPr>
        <p:spPr>
          <a:xfrm>
            <a:off x="6766560" y="3749039"/>
            <a:ext cx="1806854" cy="180685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08616" y="4291096"/>
            <a:ext cx="722741" cy="722741"/>
          </a:xfrm>
          <a:prstGeom prst="ellipse">
            <a:avLst/>
          </a:prstGeom>
          <a:solidFill>
            <a:srgbClr val="15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83071" y="4507918"/>
            <a:ext cx="3038368" cy="2890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90073" y="4742809"/>
            <a:ext cx="332841" cy="5420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50854" y="4742809"/>
            <a:ext cx="332841" cy="722741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901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901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47520" y="6035040"/>
            <a:ext cx="1737360" cy="1737360"/>
          </a:xfrm>
          <a:prstGeom prst="roundRect">
            <a:avLst>
              <a:gd name="adj" fmla="val 18000"/>
            </a:avLst>
          </a:prstGeom>
          <a:noFill/>
          <a:ln w="31750">
            <a:solidFill>
              <a:srgbClr val="8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8A7D5A"/>
                </a:solidFill>
                <a:latin typeface="Black and White Picture"/>
                <a:ea typeface="Black and White Picture"/>
                <a:cs typeface="Black and White Picture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832104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>
                <a:solidFill>
                  <a:srgbClr val="C9BD98"/>
                </a:solidFill>
                <a:latin typeface="Black and White Picture"/>
                <a:ea typeface="Black and White Picture"/>
                <a:cs typeface="Black and White Picture"/>
              </a:rPr>
              <a:t>모은 조각 6 / 7  ·  다음 방으로 이동!</a:t>
            </a:r>
          </a:p>
        </p:txBody>
      </p:sp>
    </p:spTree>
  </p:cSld>
  <p:clrMapOvr>
    <a:masterClrMapping/>
  </p:clrMapOvr>
  <p:transition spd="slow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6642080" cy="8823960"/>
          </a:xfrm>
          <a:prstGeom prst="roundRect">
            <a:avLst>
              <a:gd name="adj" fmla="val 5000"/>
            </a:avLst>
          </a:prstGeom>
          <a:noFill/>
          <a:ln w="1016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2194560" cy="731520"/>
          </a:xfrm>
          <a:prstGeom prst="roundRect">
            <a:avLst>
              <a:gd name="adj" fmla="val 30000"/>
            </a:avLst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오늘의 짤</a:t>
            </a:r>
          </a:p>
        </p:txBody>
      </p:sp>
      <p:sp>
        <p:nvSpPr>
          <p:cNvPr id="5" name="Explosion 4"/>
          <p:cNvSpPr/>
          <p:nvPr/>
        </p:nvSpPr>
        <p:spPr>
          <a:xfrm rot="480000">
            <a:off x="13990320" y="1005840"/>
            <a:ext cx="3108960" cy="2377440"/>
          </a:xfrm>
          <a:prstGeom prst="irregularSeal1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480000">
            <a:off x="13990320" y="1005840"/>
            <a:ext cx="31089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>
                <a:solidFill>
                  <a:srgbClr val="111111"/>
                </a:solidFill>
                <a:latin typeface="Black and White Picture"/>
                <a:ea typeface="Black and White Picture"/>
                <a:cs typeface="Black and White Picture"/>
              </a:rPr>
              <a:t>!!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017520"/>
            <a:ext cx="1426464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0">
                <a:ln w="88900">
                  <a:solidFill>
                    <a:srgbClr val="111111"/>
                  </a:solidFill>
                </a:ln>
                <a:solidFill>
                  <a:srgbClr val="FFE14D"/>
                </a:solidFill>
                <a:latin typeface="Black and White Picture"/>
                <a:ea typeface="Black and White Picture"/>
                <a:cs typeface="Black and White Picture"/>
              </a:rPr>
              <a:t>실패하면 반역,</a:t>
            </a:r>
          </a:p>
          <a:p>
            <a:pPr algn="ctr">
              <a:lnSpc>
                <a:spcPct val="100000"/>
              </a:lnSpc>
            </a:pPr>
            <a:r>
              <a:rPr sz="10800">
                <a:ln w="88900">
                  <a:solidFill>
                    <a:srgbClr val="111111"/>
                  </a:solidFill>
                </a:ln>
                <a:solidFill>
                  <a:srgbClr val="FFE14D"/>
                </a:solidFill>
                <a:latin typeface="Black and White Picture"/>
                <a:ea typeface="Black and White Picture"/>
                <a:cs typeface="Black and White Picture"/>
              </a:rPr>
              <a:t>성공하면 혁명 아입니까?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315200"/>
            <a:ext cx="14264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ln w="50800">
                  <a:solidFill>
                    <a:srgbClr val="111111"/>
                  </a:solidFill>
                </a:ln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마지막 방… 모든 걸 걸어라</a:t>
            </a:r>
          </a:p>
        </p:txBody>
      </p:sp>
    </p:spTree>
  </p:cSld>
  <p:clrMapOvr>
    <a:masterClrMapping/>
  </p:clrMapOvr>
  <p:transition spd="slow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0"/>
            <a:ext cx="18288000" cy="1143000"/>
          </a:xfrm>
          <a:prstGeom prst="rect">
            <a:avLst/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door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97280"/>
            <a:ext cx="4315968" cy="8321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27080" y="868680"/>
            <a:ext cx="4773168" cy="8549640"/>
          </a:xfrm>
          <a:prstGeom prst="roundRect">
            <a:avLst>
              <a:gd name="adj" fmla="val 4000"/>
            </a:avLst>
          </a:prstGeom>
          <a:noFill/>
          <a:ln w="762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097280"/>
            <a:ext cx="764438" cy="76443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231331" y="1326611"/>
            <a:ext cx="305775" cy="305775"/>
          </a:xfrm>
          <a:prstGeom prst="ellipse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728216" y="1418344"/>
            <a:ext cx="1285463" cy="12231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450409" y="1517721"/>
            <a:ext cx="140817" cy="229331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72278" y="1517721"/>
            <a:ext cx="140817" cy="3057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0400000">
            <a:off x="16002000" y="3657600"/>
            <a:ext cx="1828800" cy="137160"/>
          </a:xfrm>
          <a:prstGeom prst="rect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400000">
            <a:off x="16002000" y="5486400"/>
            <a:ext cx="1828800" cy="137160"/>
          </a:xfrm>
          <a:prstGeom prst="rect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9120" y="66751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DANGER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103120"/>
            <a:ext cx="8595360" cy="5120640"/>
          </a:xfrm>
          <a:prstGeom prst="roundRect">
            <a:avLst>
              <a:gd name="adj" fmla="val 8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5603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ROOM 7 /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7472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7번째 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0292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최후의 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309360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금고의 암호를 풀어라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0"/>
            <a:ext cx="18288000" cy="1143000"/>
          </a:xfrm>
          <a:prstGeom prst="rect">
            <a:avLst/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FFF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4389120"/>
            <a:ext cx="37673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0">
                <a:solidFill>
                  <a:srgbClr val="D4AF3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pic>
        <p:nvPicPr>
          <p:cNvPr id="5" name="!!door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325880"/>
            <a:ext cx="1143000" cy="8138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27080" y="868680"/>
            <a:ext cx="4773168" cy="8549640"/>
          </a:xfrm>
          <a:prstGeom prst="roundRect">
            <a:avLst>
              <a:gd name="adj" fmla="val 4000"/>
            </a:avLst>
          </a:prstGeom>
          <a:noFill/>
          <a:ln w="762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0" y="1097280"/>
            <a:ext cx="764438" cy="764438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31331" y="1326611"/>
            <a:ext cx="305775" cy="305775"/>
          </a:xfrm>
          <a:prstGeom prst="ellipse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728216" y="1418344"/>
            <a:ext cx="1285463" cy="12231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450409" y="1517721"/>
            <a:ext cx="140817" cy="229331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772278" y="1517721"/>
            <a:ext cx="140817" cy="3057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400000">
            <a:off x="16002000" y="3657600"/>
            <a:ext cx="1828800" cy="137160"/>
          </a:xfrm>
          <a:prstGeom prst="rect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400000">
            <a:off x="16002000" y="5486400"/>
            <a:ext cx="1828800" cy="137160"/>
          </a:xfrm>
          <a:prstGeom prst="rect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819120" y="66751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>
                <a:solidFill>
                  <a:srgbClr val="C4121F"/>
                </a:solidFill>
                <a:latin typeface="Black and White Picture"/>
                <a:ea typeface="Black and White Picture"/>
                <a:cs typeface="Black and White Picture"/>
              </a:rPr>
              <a:t>DANGER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103120"/>
            <a:ext cx="8595360" cy="5120640"/>
          </a:xfrm>
          <a:prstGeom prst="roundRect">
            <a:avLst>
              <a:gd name="adj" fmla="val 8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5603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ROOM 7 /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74720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끼이이익…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7680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문이 열렸다! 안으로 들어가자</a:t>
            </a:r>
          </a:p>
        </p:txBody>
      </p:sp>
    </p:spTree>
  </p:cSld>
  <p:clrMapOvr>
    <a:masterClrMapping/>
  </p:clrMapOvr>
  <p:transition spd="slow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7번째 방 · 최후의 방</a:t>
            </a:r>
          </a:p>
        </p:txBody>
      </p:sp>
      <p:sp>
        <p:nvSpPr>
          <p:cNvPr id="4" name="Oval 3"/>
          <p:cNvSpPr/>
          <p:nvPr/>
        </p:nvSpPr>
        <p:spPr>
          <a:xfrm>
            <a:off x="14904720" y="640080"/>
            <a:ext cx="1042416" cy="10424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217444" y="952804"/>
            <a:ext cx="416966" cy="416966"/>
          </a:xfrm>
          <a:prstGeom prst="ellipse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895015" y="1077894"/>
            <a:ext cx="1752904" cy="16678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879824" y="1213408"/>
            <a:ext cx="192024" cy="31272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18736" y="1213408"/>
            <a:ext cx="192024" cy="41696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904720" y="2194560"/>
            <a:ext cx="2743200" cy="54864"/>
          </a:xfrm>
          <a:prstGeom prst="rect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280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최후의 방: 금고를 열어라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숫자 문제 5개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답은 모두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한 자리 숫자!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700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276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276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암호 완성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276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다섯 답을 순서대로 이으면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금고 비밀번호가 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31040" y="3657600"/>
            <a:ext cx="5334000" cy="4846320"/>
          </a:xfrm>
          <a:prstGeom prst="roundRect">
            <a:avLst>
              <a:gd name="adj" fmla="val 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496800" y="3931920"/>
            <a:ext cx="460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>
                <a:solidFill>
                  <a:srgbClr val="0C0C0E"/>
                </a:solidFill>
                <a:latin typeface="Black and White Picture"/>
                <a:ea typeface="Black and White Picture"/>
                <a:cs typeface="Black and White Pictur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96800" y="5394960"/>
            <a:ext cx="478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>
                <a:solidFill>
                  <a:srgbClr val="0C0C0E"/>
                </a:solidFill>
                <a:latin typeface="Black and White Picture"/>
                <a:ea typeface="Black and White Picture"/>
                <a:cs typeface="Black and White Picture"/>
              </a:rPr>
              <a:t>틀리면 오답!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96800" y="6309360"/>
            <a:ext cx="478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>
                <a:solidFill>
                  <a:srgbClr val="0C0C0E"/>
                </a:solidFill>
                <a:latin typeface="Black and White Picture"/>
                <a:ea typeface="Black and White Picture"/>
                <a:cs typeface="Black and White Picture"/>
              </a:rPr>
              <a:t>답이 틀리면 오답 처리</a:t>
            </a:r>
          </a:p>
          <a:p>
            <a:pPr algn="l">
              <a:lnSpc>
                <a:spcPct val="120000"/>
              </a:lnSpc>
            </a:pPr>
            <a:r>
              <a:rPr sz="2700">
                <a:solidFill>
                  <a:srgbClr val="0C0C0E"/>
                </a:solidFill>
                <a:latin typeface="Black and White Picture"/>
                <a:ea typeface="Black and White Picture"/>
                <a:cs typeface="Black and White Picture"/>
              </a:rPr>
              <a:t>생명 1개 감소</a:t>
            </a:r>
          </a:p>
        </p:txBody>
      </p:sp>
      <p:sp>
        <p:nvSpPr>
          <p:cNvPr id="23" name="Heart 22"/>
          <p:cNvSpPr/>
          <p:nvPr/>
        </p:nvSpPr>
        <p:spPr>
          <a:xfrm>
            <a:off x="822960" y="8915400"/>
            <a:ext cx="502920" cy="452628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8869680"/>
            <a:ext cx="1554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금고 안에 마지막 7번째 열쇠 조각이 잠들어 있다…</a:t>
            </a:r>
          </a:p>
        </p:txBody>
      </p:sp>
    </p:spTree>
  </p:cSld>
  <p:clrMapOvr>
    <a:masterClrMapping/>
  </p:clrMapOvr>
  <p:transition spd="slow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7번째 방 · 최후의 방   Q1 / 5</a:t>
            </a:r>
          </a:p>
        </p:txBody>
      </p:sp>
      <p:sp>
        <p:nvSpPr>
          <p:cNvPr id="4" name="Oval 3"/>
          <p:cNvSpPr/>
          <p:nvPr/>
        </p:nvSpPr>
        <p:spPr>
          <a:xfrm>
            <a:off x="14904720" y="640080"/>
            <a:ext cx="1042416" cy="10424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217444" y="952804"/>
            <a:ext cx="416966" cy="416966"/>
          </a:xfrm>
          <a:prstGeom prst="ellipse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895015" y="1077894"/>
            <a:ext cx="1752904" cy="16678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879824" y="1213408"/>
            <a:ext cx="192024" cy="31272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18736" y="1213408"/>
            <a:ext cx="192024" cy="41696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904720" y="2194560"/>
            <a:ext cx="2743200" cy="54864"/>
          </a:xfrm>
          <a:prstGeom prst="rect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태극기 네 모서리에 있는 괘는</a:t>
            </a:r>
          </a:p>
          <a:p>
            <a:pPr algn="l">
              <a:lnSpc>
                <a:spcPct val="100000"/>
              </a:lnSpc>
            </a:pPr>
            <a:r>
              <a:rPr sz="8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모두 몇 개일까?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6583680"/>
            <a:ext cx="8229600" cy="2377440"/>
          </a:xfrm>
          <a:prstGeom prst="roundRect">
            <a:avLst>
              <a:gd name="adj" fmla="val 12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6675120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금고 암호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731520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?  ?  ?  ?  ?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7번째 방 · 최후의 방   정답 1 / 5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Q1. 태극기 네 모서리에 있는 괘는 모두 몇 개일까?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건 · 곤 · 감 · 리, 모두 4개!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7번째 방 · 최후의 방   Q2 / 5</a:t>
            </a:r>
          </a:p>
        </p:txBody>
      </p:sp>
      <p:sp>
        <p:nvSpPr>
          <p:cNvPr id="4" name="Oval 3"/>
          <p:cNvSpPr/>
          <p:nvPr/>
        </p:nvSpPr>
        <p:spPr>
          <a:xfrm>
            <a:off x="14904720" y="640080"/>
            <a:ext cx="1042416" cy="10424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217444" y="952804"/>
            <a:ext cx="416966" cy="416966"/>
          </a:xfrm>
          <a:prstGeom prst="ellipse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895015" y="1077894"/>
            <a:ext cx="1752904" cy="16678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879824" y="1213408"/>
            <a:ext cx="192024" cy="31272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18736" y="1213408"/>
            <a:ext cx="192024" cy="41696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904720" y="2194560"/>
            <a:ext cx="2743200" cy="54864"/>
          </a:xfrm>
          <a:prstGeom prst="rect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이 방탈출에 있는 방은 모두 몇</a:t>
            </a:r>
          </a:p>
          <a:p>
            <a:pPr algn="l">
              <a:lnSpc>
                <a:spcPct val="100000"/>
              </a:lnSpc>
            </a:pPr>
            <a:r>
              <a:rPr sz="8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개일까?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6583680"/>
            <a:ext cx="8229600" cy="2377440"/>
          </a:xfrm>
          <a:prstGeom prst="roundRect">
            <a:avLst>
              <a:gd name="adj" fmla="val 12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6675120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금고 암호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731520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4  ?  ?  ?  ?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7번째 방 · 최후의 방   정답 2 / 5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Q2. 이 방탈출에 있는 방은 모두 몇 개일까?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처음부터 말했죠? 방은 총 7개!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7번째 방 · 최후의 방   Q3 / 5</a:t>
            </a:r>
          </a:p>
        </p:txBody>
      </p:sp>
      <p:sp>
        <p:nvSpPr>
          <p:cNvPr id="4" name="Oval 3"/>
          <p:cNvSpPr/>
          <p:nvPr/>
        </p:nvSpPr>
        <p:spPr>
          <a:xfrm>
            <a:off x="14904720" y="640080"/>
            <a:ext cx="1042416" cy="10424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217444" y="952804"/>
            <a:ext cx="416966" cy="416966"/>
          </a:xfrm>
          <a:prstGeom prst="ellipse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895015" y="1077894"/>
            <a:ext cx="1752904" cy="16678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879824" y="1213408"/>
            <a:ext cx="192024" cy="31272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18736" y="1213408"/>
            <a:ext cx="192024" cy="41696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904720" y="2194560"/>
            <a:ext cx="2743200" cy="54864"/>
          </a:xfrm>
          <a:prstGeom prst="rect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세계는 보통 몇 개의 대륙으로</a:t>
            </a:r>
          </a:p>
          <a:p>
            <a:pPr algn="l">
              <a:lnSpc>
                <a:spcPct val="100000"/>
              </a:lnSpc>
            </a:pPr>
            <a:r>
              <a:rPr sz="8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나눌까?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6583680"/>
            <a:ext cx="8229600" cy="2377440"/>
          </a:xfrm>
          <a:prstGeom prst="roundRect">
            <a:avLst>
              <a:gd name="adj" fmla="val 12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6675120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금고 암호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731520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4  7  ?  ?  ?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7번째 방 · 최후의 방   정답 3 / 5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Q3. 세계는 보통 몇 개의 대륙으로 나눌까?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아시아·유럽·아프리카·아메리카(남·북)·오세아니아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7번째 방 · 최후의 방   Q4 / 5</a:t>
            </a:r>
          </a:p>
        </p:txBody>
      </p:sp>
      <p:sp>
        <p:nvSpPr>
          <p:cNvPr id="4" name="Oval 3"/>
          <p:cNvSpPr/>
          <p:nvPr/>
        </p:nvSpPr>
        <p:spPr>
          <a:xfrm>
            <a:off x="14904720" y="640080"/>
            <a:ext cx="1042416" cy="10424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217444" y="952804"/>
            <a:ext cx="416966" cy="416966"/>
          </a:xfrm>
          <a:prstGeom prst="ellipse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895015" y="1077894"/>
            <a:ext cx="1752904" cy="16678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879824" y="1213408"/>
            <a:ext cx="192024" cy="31272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18736" y="1213408"/>
            <a:ext cx="192024" cy="41696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904720" y="2194560"/>
            <a:ext cx="2743200" cy="54864"/>
          </a:xfrm>
          <a:prstGeom prst="rect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올림픽 오륜기의 고리는 모두 몇</a:t>
            </a:r>
          </a:p>
          <a:p>
            <a:pPr algn="l">
              <a:lnSpc>
                <a:spcPct val="100000"/>
              </a:lnSpc>
            </a:pPr>
            <a:r>
              <a:rPr sz="8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개일까?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6583680"/>
            <a:ext cx="8229600" cy="2377440"/>
          </a:xfrm>
          <a:prstGeom prst="roundRect">
            <a:avLst>
              <a:gd name="adj" fmla="val 12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6675120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금고 암호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731520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4  7  6  ?  ?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7번째 방 · 최후의 방   정답 4 / 5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Q4. 올림픽 오륜기의 고리는 모두 몇 개일까?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다섯 대륙을 뜻하는 5개의 고리!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7번째 방 · 최후의 방   Q5 / 5</a:t>
            </a:r>
          </a:p>
        </p:txBody>
      </p:sp>
      <p:sp>
        <p:nvSpPr>
          <p:cNvPr id="4" name="Oval 3"/>
          <p:cNvSpPr/>
          <p:nvPr/>
        </p:nvSpPr>
        <p:spPr>
          <a:xfrm>
            <a:off x="14904720" y="640080"/>
            <a:ext cx="1042416" cy="10424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217444" y="952804"/>
            <a:ext cx="416966" cy="416966"/>
          </a:xfrm>
          <a:prstGeom prst="ellipse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895015" y="1077894"/>
            <a:ext cx="1752904" cy="16678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879824" y="1213408"/>
            <a:ext cx="192024" cy="31272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18736" y="1213408"/>
            <a:ext cx="192024" cy="41696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904720" y="2194560"/>
            <a:ext cx="2743200" cy="54864"/>
          </a:xfrm>
          <a:prstGeom prst="rect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Q5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417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무지개는 보통 몇 가지 색으로</a:t>
            </a:r>
          </a:p>
          <a:p>
            <a:pPr algn="l">
              <a:lnSpc>
                <a:spcPct val="100000"/>
              </a:lnSpc>
            </a:pPr>
            <a:r>
              <a:rPr sz="8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나타낼까?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6583680"/>
            <a:ext cx="8229600" cy="2377440"/>
          </a:xfrm>
          <a:prstGeom prst="roundRect">
            <a:avLst>
              <a:gd name="adj" fmla="val 12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6675120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금고 암호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731520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4  7  6  5  ?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7번째 방 · 최후의 방   정답 5 / 5</a:t>
            </a:r>
          </a:p>
        </p:txBody>
      </p:sp>
      <p:sp>
        <p:nvSpPr>
          <p:cNvPr id="4" name="Oval 3"/>
          <p:cNvSpPr/>
          <p:nvPr/>
        </p:nvSpPr>
        <p:spPr>
          <a:xfrm>
            <a:off x="12161520" y="2194560"/>
            <a:ext cx="5120640" cy="5120640"/>
          </a:xfrm>
          <a:prstGeom prst="ellipse">
            <a:avLst/>
          </a:prstGeom>
          <a:noFill/>
          <a:ln w="762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880000">
            <a:off x="12161520" y="2194560"/>
            <a:ext cx="5120640" cy="5120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Q5. 무지개는 보통 몇 가지 색으로 나타낼까?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정답은…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11556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빨주노초파남보, 7가지 색!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7680960"/>
            <a:ext cx="10424160" cy="1371600"/>
          </a:xfrm>
          <a:prstGeom prst="roundRect">
            <a:avLst>
              <a:gd name="adj" fmla="val 25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rt 10"/>
          <p:cNvSpPr/>
          <p:nvPr/>
        </p:nvSpPr>
        <p:spPr>
          <a:xfrm>
            <a:off x="1234440" y="7973568"/>
            <a:ext cx="868680" cy="781812"/>
          </a:xfrm>
          <a:prstGeom prst="heart">
            <a:avLst/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7680960"/>
            <a:ext cx="86868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틀린 사람은 </a:t>
            </a:r>
            <a:r>
              <a:rPr sz="48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오답!</a:t>
            </a:r>
            <a:r>
              <a:rPr sz="4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  생명 -1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6583680" cy="777240"/>
          </a:xfrm>
          <a:prstGeom prst="roundRect">
            <a:avLst>
              <a:gd name="adj" fmla="val 50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6217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7번째 방 · 최후의 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4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금고 비밀번호는…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2926080"/>
            <a:ext cx="2468880" cy="3108960"/>
          </a:xfrm>
          <a:prstGeom prst="roundRect">
            <a:avLst>
              <a:gd name="adj" fmla="val 12000"/>
            </a:avLst>
          </a:prstGeom>
          <a:solidFill>
            <a:srgbClr val="1D1B17"/>
          </a:solidFill>
          <a:ln w="508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2926080"/>
            <a:ext cx="2468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2926080"/>
            <a:ext cx="2468880" cy="3108960"/>
          </a:xfrm>
          <a:prstGeom prst="roundRect">
            <a:avLst>
              <a:gd name="adj" fmla="val 12000"/>
            </a:avLst>
          </a:prstGeom>
          <a:solidFill>
            <a:srgbClr val="1D1B17"/>
          </a:solidFill>
          <a:ln w="508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2926080"/>
            <a:ext cx="2468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926080"/>
            <a:ext cx="2468880" cy="3108960"/>
          </a:xfrm>
          <a:prstGeom prst="roundRect">
            <a:avLst>
              <a:gd name="adj" fmla="val 12000"/>
            </a:avLst>
          </a:prstGeom>
          <a:solidFill>
            <a:srgbClr val="1D1B17"/>
          </a:solidFill>
          <a:ln w="508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926080"/>
            <a:ext cx="2468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35640" y="2926080"/>
            <a:ext cx="2468880" cy="3108960"/>
          </a:xfrm>
          <a:prstGeom prst="roundRect">
            <a:avLst>
              <a:gd name="adj" fmla="val 12000"/>
            </a:avLst>
          </a:prstGeom>
          <a:solidFill>
            <a:srgbClr val="1D1B17"/>
          </a:solidFill>
          <a:ln w="508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35640" y="2926080"/>
            <a:ext cx="2468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61720" y="2926080"/>
            <a:ext cx="2468880" cy="3108960"/>
          </a:xfrm>
          <a:prstGeom prst="roundRect">
            <a:avLst>
              <a:gd name="adj" fmla="val 12000"/>
            </a:avLst>
          </a:prstGeom>
          <a:solidFill>
            <a:srgbClr val="1D1B17"/>
          </a:solidFill>
          <a:ln w="508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61720" y="2926080"/>
            <a:ext cx="2468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8288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철컥! 금고가 열렸다!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813816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8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금고 안에서 마지막 열쇠 조각을 발견했다</a:t>
            </a:r>
          </a:p>
        </p:txBody>
      </p:sp>
    </p:spTree>
  </p:cSld>
  <p:clrMapOvr>
    <a:masterClrMapping/>
  </p:clrMapOvr>
  <p:transition spd="slow">
    <p:fade/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1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7번째 방 클리어!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8288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열쇠 조각 7 획득!</a:t>
            </a:r>
          </a:p>
        </p:txBody>
      </p:sp>
      <p:sp>
        <p:nvSpPr>
          <p:cNvPr id="4" name="Oval 3"/>
          <p:cNvSpPr/>
          <p:nvPr/>
        </p:nvSpPr>
        <p:spPr>
          <a:xfrm>
            <a:off x="6766560" y="3749039"/>
            <a:ext cx="1806854" cy="180685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08616" y="4291096"/>
            <a:ext cx="722741" cy="722741"/>
          </a:xfrm>
          <a:prstGeom prst="ellipse">
            <a:avLst/>
          </a:prstGeom>
          <a:solidFill>
            <a:srgbClr val="15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83071" y="4507918"/>
            <a:ext cx="3038368" cy="2890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90073" y="4742809"/>
            <a:ext cx="332841" cy="54205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50854" y="4742809"/>
            <a:ext cx="332841" cy="722741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901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901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47520" y="6035040"/>
            <a:ext cx="1737360" cy="173736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20" y="603504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>
                <a:solidFill>
                  <a:srgbClr val="15110C"/>
                </a:solidFill>
                <a:latin typeface="Black and White Picture"/>
                <a:ea typeface="Black and White Picture"/>
                <a:cs typeface="Black and White Picture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8321040"/>
            <a:ext cx="1828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>
                <a:solidFill>
                  <a:srgbClr val="C9BD98"/>
                </a:solidFill>
                <a:latin typeface="Black and White Picture"/>
                <a:ea typeface="Black and White Picture"/>
                <a:cs typeface="Black and White Picture"/>
              </a:rPr>
              <a:t>모든 조각을 모았다! 이제 합쳐 보자</a:t>
            </a:r>
          </a:p>
        </p:txBody>
      </p:sp>
    </p:spTree>
  </p:cSld>
  <p:clrMapOvr>
    <a:masterClrMapping/>
  </p:clrMapOvr>
  <p:transition spd="slow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8288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6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7개의 열쇠 조각을 합쳐라!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2926080"/>
            <a:ext cx="1828800" cy="182880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0">
                <a:solidFill>
                  <a:srgbClr val="0C0C0E"/>
                </a:solidFill>
                <a:latin typeface="Black and White Picture"/>
                <a:ea typeface="Black and White Picture"/>
                <a:cs typeface="Black and White Picture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39" y="2926080"/>
            <a:ext cx="1828800" cy="182880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20439" y="292608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0">
                <a:solidFill>
                  <a:srgbClr val="0C0C0E"/>
                </a:solidFill>
                <a:latin typeface="Black and White Picture"/>
                <a:ea typeface="Black and White Picture"/>
                <a:cs typeface="Black and White Picture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59" y="2926080"/>
            <a:ext cx="1828800" cy="182880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59" y="292608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0">
                <a:solidFill>
                  <a:srgbClr val="0C0C0E"/>
                </a:solidFill>
                <a:latin typeface="Black and White Picture"/>
                <a:ea typeface="Black and White Picture"/>
                <a:cs typeface="Black and White Picture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926080"/>
            <a:ext cx="1828800" cy="182880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92608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0">
                <a:solidFill>
                  <a:srgbClr val="0C0C0E"/>
                </a:solidFill>
                <a:latin typeface="Black and White Picture"/>
                <a:ea typeface="Black and White Picture"/>
                <a:cs typeface="Black and White Picture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2926080"/>
            <a:ext cx="1828800" cy="182880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292608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0">
                <a:solidFill>
                  <a:srgbClr val="0C0C0E"/>
                </a:solidFill>
                <a:latin typeface="Black and White Picture"/>
                <a:ea typeface="Black and White Picture"/>
                <a:cs typeface="Black and White Picture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47320" y="2926080"/>
            <a:ext cx="1828800" cy="182880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47320" y="292608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0">
                <a:solidFill>
                  <a:srgbClr val="0C0C0E"/>
                </a:solidFill>
                <a:latin typeface="Black and White Picture"/>
                <a:ea typeface="Black and White Picture"/>
                <a:cs typeface="Black and White Picture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79039" y="2926080"/>
            <a:ext cx="1828800" cy="1828800"/>
          </a:xfrm>
          <a:prstGeom prst="roundRect">
            <a:avLst>
              <a:gd name="adj" fmla="val 1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179039" y="292608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0">
                <a:solidFill>
                  <a:srgbClr val="0C0C0E"/>
                </a:solidFill>
                <a:latin typeface="Black and White Picture"/>
                <a:ea typeface="Black and White Picture"/>
                <a:cs typeface="Black and White Picture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4937760"/>
            <a:ext cx="1828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0">
                <a:solidFill>
                  <a:srgbClr val="D4AF3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6217920"/>
            <a:ext cx="2084832" cy="2084832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6249" y="6843369"/>
            <a:ext cx="833932" cy="833932"/>
          </a:xfrm>
          <a:prstGeom prst="ellipse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1390" y="7093549"/>
            <a:ext cx="3505809" cy="333573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51008" y="7364577"/>
            <a:ext cx="384048" cy="62544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228832" y="7364577"/>
            <a:ext cx="384048" cy="83393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door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97280"/>
            <a:ext cx="4315968" cy="832104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315200" y="4389120"/>
            <a:ext cx="1111910" cy="111191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48773" y="4722693"/>
            <a:ext cx="444764" cy="444764"/>
          </a:xfrm>
          <a:prstGeom prst="ellipse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71514" y="4856122"/>
            <a:ext cx="1869765" cy="17790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21977" y="5000670"/>
            <a:ext cx="204825" cy="333573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90150" y="5000670"/>
            <a:ext cx="204825" cy="4447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9144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마지막 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완성된 열쇠로 탈출문을 연다…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ap"/>
          <p:cNvSpPr/>
          <p:nvPr/>
        </p:nvSpPr>
        <p:spPr>
          <a:xfrm>
            <a:off x="11430000" y="1389888"/>
            <a:ext cx="3767328" cy="8028431"/>
          </a:xfrm>
          <a:prstGeom prst="rect">
            <a:avLst/>
          </a:prstGeom>
          <a:solidFill>
            <a:srgbClr val="FFF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door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1325880"/>
            <a:ext cx="1143000" cy="8138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탈출 성공?!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문이 열렸다! 이제 결과를 확인하자</a:t>
            </a:r>
          </a:p>
        </p:txBody>
      </p:sp>
    </p:spTree>
  </p:cSld>
  <p:clrMapOvr>
    <a:masterClrMapping/>
  </p:clrMapOvr>
  <p:transition spd="slow">
    <p:fade/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3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31520"/>
            <a:ext cx="16642080" cy="8823960"/>
          </a:xfrm>
          <a:prstGeom prst="roundRect">
            <a:avLst>
              <a:gd name="adj" fmla="val 5000"/>
            </a:avLst>
          </a:prstGeom>
          <a:noFill/>
          <a:ln w="1016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2194560" cy="731520"/>
          </a:xfrm>
          <a:prstGeom prst="roundRect">
            <a:avLst>
              <a:gd name="adj" fmla="val 30000"/>
            </a:avLst>
          </a:prstGeom>
          <a:solidFill>
            <a:srgbClr val="E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2194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오늘의 짤</a:t>
            </a:r>
          </a:p>
        </p:txBody>
      </p:sp>
      <p:sp>
        <p:nvSpPr>
          <p:cNvPr id="5" name="Explosion 4"/>
          <p:cNvSpPr/>
          <p:nvPr/>
        </p:nvSpPr>
        <p:spPr>
          <a:xfrm rot="480000">
            <a:off x="13990320" y="1005840"/>
            <a:ext cx="3108960" cy="2377440"/>
          </a:xfrm>
          <a:prstGeom prst="irregularSeal1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480000">
            <a:off x="13990320" y="1005840"/>
            <a:ext cx="31089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>
                <a:solidFill>
                  <a:srgbClr val="111111"/>
                </a:solidFill>
                <a:latin typeface="Black and White Picture"/>
                <a:ea typeface="Black and White Picture"/>
                <a:cs typeface="Black and White Picture"/>
              </a:rPr>
              <a:t>ㅋㅋㅋ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017520"/>
            <a:ext cx="1426464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>
                <a:ln w="88900">
                  <a:solidFill>
                    <a:srgbClr val="111111"/>
                  </a:solidFill>
                </a:ln>
                <a:solidFill>
                  <a:srgbClr val="FFE14D"/>
                </a:solidFill>
                <a:latin typeface="Black and White Picture"/>
                <a:ea typeface="Black and White Picture"/>
                <a:cs typeface="Black and White Picture"/>
              </a:rPr>
              <a:t>이게 되네?!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315200"/>
            <a:ext cx="14264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>
                <a:ln w="50800">
                  <a:solidFill>
                    <a:srgbClr val="111111"/>
                  </a:solidFill>
                </a:ln>
                <a:solidFill>
                  <a:srgbClr val="FFFFFF"/>
                </a:solidFill>
                <a:latin typeface="Black and White Picture"/>
                <a:ea typeface="Black and White Picture"/>
                <a:cs typeface="Black and White Picture"/>
              </a:rPr>
              <a:t>살아서 나온 자, 앞으로!</a:t>
            </a:r>
          </a:p>
        </p:txBody>
      </p:sp>
    </p:spTree>
  </p:cSld>
  <p:clrMapOvr>
    <a:masterClrMapping/>
  </p:clrMapOvr>
  <p:transition spd="slow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645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6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최종 결과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377440"/>
            <a:ext cx="5349240" cy="5852160"/>
          </a:xfrm>
          <a:prstGeom prst="roundRect">
            <a:avLst>
              <a:gd name="adj" fmla="val 6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rt 3"/>
          <p:cNvSpPr/>
          <p:nvPr/>
        </p:nvSpPr>
        <p:spPr>
          <a:xfrm>
            <a:off x="1280160" y="2834640"/>
            <a:ext cx="1463040" cy="1316736"/>
          </a:xfrm>
          <a:prstGeom prst="heart">
            <a:avLst/>
          </a:prstGeom>
          <a:solidFill>
            <a:srgbClr val="C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5720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0">
                <a:solidFill>
                  <a:srgbClr val="0C0C0E"/>
                </a:solidFill>
                <a:latin typeface="Black and White Picture"/>
                <a:ea typeface="Black and White Picture"/>
                <a:cs typeface="Black and White Picture"/>
              </a:rPr>
              <a:t>탈출 성공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85216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>
                <a:solidFill>
                  <a:srgbClr val="0C0C0E"/>
                </a:solidFill>
                <a:latin typeface="Black and White Picture"/>
                <a:ea typeface="Black and White Picture"/>
                <a:cs typeface="Black and White Picture"/>
              </a:rPr>
              <a:t>생명이 1개 이상</a:t>
            </a:r>
          </a:p>
          <a:p>
            <a:pPr algn="l">
              <a:lnSpc>
                <a:spcPct val="120000"/>
              </a:lnSpc>
            </a:pPr>
            <a:r>
              <a:rPr sz="3200">
                <a:solidFill>
                  <a:srgbClr val="0C0C0E"/>
                </a:solidFill>
                <a:latin typeface="Black and White Picture"/>
                <a:ea typeface="Black and White Picture"/>
                <a:cs typeface="Black and White Picture"/>
              </a:rPr>
              <a:t>남은 사람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377440"/>
            <a:ext cx="5349240" cy="5852160"/>
          </a:xfrm>
          <a:prstGeom prst="roundRect">
            <a:avLst>
              <a:gd name="adj" fmla="val 6000"/>
            </a:avLst>
          </a:prstGeom>
          <a:solidFill>
            <a:srgbClr val="2A2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art 7"/>
          <p:cNvSpPr/>
          <p:nvPr/>
        </p:nvSpPr>
        <p:spPr>
          <a:xfrm>
            <a:off x="6949440" y="2834640"/>
            <a:ext cx="1463040" cy="1316736"/>
          </a:xfrm>
          <a:prstGeom prst="heart">
            <a:avLst/>
          </a:prstGeom>
          <a:solidFill>
            <a:srgbClr val="55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45720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탈출 실패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585216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생명이 0개가</a:t>
            </a:r>
          </a:p>
          <a:p>
            <a:pPr algn="l">
              <a:lnSpc>
                <a:spcPct val="120000"/>
              </a:lnSpc>
            </a:pPr>
            <a:r>
              <a:rPr sz="32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된 사람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61520" y="2377440"/>
            <a:ext cx="5349240" cy="5852160"/>
          </a:xfrm>
          <a:prstGeom prst="roundRect">
            <a:avLst>
              <a:gd name="adj" fmla="val 6000"/>
            </a:avLst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0" y="2606040"/>
            <a:ext cx="2286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>
                <a:solidFill>
                  <a:srgbClr val="D4AF37"/>
                </a:solidFill>
                <a:latin typeface="Black and White Picture"/>
                <a:ea typeface="Black and White Picture"/>
                <a:cs typeface="Black and White Picture"/>
              </a:rPr>
              <a:t>1st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0" y="45720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0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순위 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0" y="585216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성공자끼리 남은 생명이</a:t>
            </a:r>
          </a:p>
          <a:p>
            <a:pPr algn="l">
              <a:lnSpc>
                <a:spcPct val="120000"/>
              </a:lnSpc>
            </a:pPr>
            <a:r>
              <a:rPr sz="3200">
                <a:solidFill>
                  <a:srgbClr val="F5EFD9"/>
                </a:solidFill>
                <a:latin typeface="Black and White Picture"/>
                <a:ea typeface="Black and White Picture"/>
                <a:cs typeface="Black and White Picture"/>
              </a:rPr>
              <a:t>많은 순서대로 1등!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8686800"/>
            <a:ext cx="1645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>
                <a:solidFill>
                  <a:srgbClr val="A89F84"/>
                </a:solidFill>
                <a:latin typeface="Black and White Picture"/>
                <a:ea typeface="Black and White Picture"/>
                <a:cs typeface="Black and White Picture"/>
              </a:rPr>
              <a:t>남은 생명을 세어 보세요!  모두 수고했어요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DAHWjnvtRsY</dc:identifier>
  <dcterms:modified xsi:type="dcterms:W3CDTF">2011-08-01T06:04:30Z</dcterms:modified>
  <cp:revision>1</cp:revision>
  <dc:title>온대기후방_방탈출_v1.0.pptx</dc:title>
</cp:coreProperties>
</file>