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aAHQEnjf4SQ.m4a" ContentType="audio/m4a"/>
  <Override PartName="/ppt/media/image11.svg" ContentType="image/svg+xml"/>
  <Override PartName="/ppt/media/image13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4" r:id="rId14"/>
    <p:sldId id="265" r:id="rId15"/>
    <p:sldId id="266" r:id="rId16"/>
    <p:sldId id="267" r:id="rId17"/>
    <p:sldId id="269" r:id="rId19"/>
    <p:sldId id="270" r:id="rId20"/>
    <p:sldId id="271" r:id="rId21"/>
    <p:sldId id="272" r:id="rId22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8" r:id="rId73"/>
    <p:sldId id="309" r:id="rId74"/>
    <p:sldId id="310" r:id="rId75"/>
    <p:sldId id="311" r:id="rId76"/>
    <p:sldId id="312" r:id="rId77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5" r:id="rId90"/>
    <p:sldId id="326" r:id="rId91"/>
    <p:sldId id="327" r:id="rId92"/>
    <p:sldId id="328" r:id="rId93"/>
    <p:sldId id="329" r:id="rId94"/>
    <p:sldId id="330" r:id="rId95"/>
    <p:sldId id="331" r:id="rId96"/>
    <p:sldId id="332" r:id="rId97"/>
    <p:sldId id="333" r:id="rId98"/>
    <p:sldId id="334" r:id="rId99"/>
    <p:sldId id="335" r:id="rId100"/>
    <p:sldId id="336" r:id="rId101"/>
    <p:sldId id="337" r:id="rId102"/>
    <p:sldId id="338" r:id="rId103"/>
    <p:sldId id="339" r:id="rId104"/>
    <p:sldId id="340" r:id="rId105"/>
    <p:sldId id="341" r:id="rId106"/>
    <p:sldId id="342" r:id="rId107"/>
    <p:sldId id="343" r:id="rId108"/>
    <p:sldId id="344" r:id="rId109"/>
    <p:sldId id="345" r:id="rId110"/>
    <p:sldId id="346" r:id="rId111"/>
    <p:sldId id="347" r:id="rId112"/>
    <p:sldId id="348" r:id="rId113"/>
    <p:sldId id="349" r:id="rId114"/>
    <p:sldId id="350" r:id="rId115"/>
    <p:sldId id="351" r:id="rId116"/>
    <p:sldId id="352" r:id="rId117"/>
    <p:sldId id="353" r:id="rId118"/>
    <p:sldId id="354" r:id="rId119"/>
    <p:sldId id="355" r:id="rId120"/>
    <p:sldId id="356" r:id="rId121"/>
    <p:sldId id="357" r:id="rId122"/>
    <p:sldId id="358" r:id="rId123"/>
    <p:sldId id="359" r:id="rId124"/>
    <p:sldId id="360" r:id="rId125"/>
    <p:sldId id="361" r:id="rId126"/>
    <p:sldId id="362" r:id="rId127"/>
    <p:sldId id="363" r:id="rId128"/>
    <p:sldId id="364" r:id="rId129"/>
    <p:sldId id="365" r:id="rId130"/>
    <p:sldId id="366" r:id="rId131"/>
    <p:sldId id="367" r:id="rId132"/>
    <p:sldId id="368" r:id="rId133"/>
    <p:sldId id="369" r:id="rId134"/>
    <p:sldId id="370" r:id="rId135"/>
  </p:sldIdLst>
  <p:sldSz cx="18288000" cy="10287000"/>
  <p:notesSz cx="6858000" cy="9144000"/>
  <p:embeddedFontLst>
    <p:embeddedFont>
      <p:font typeface="Black and White Picture" charset="1" panose="00000000000000000000"/>
      <p:regular r:id="rId25"/>
    </p:embeddedFont>
    <p:embeddedFont>
      <p:font typeface="Mandali" charset="1" panose="02000600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5" Type="http://schemas.openxmlformats.org/officeDocument/2006/relationships/font" Target="fonts/font25.fntdata"/><Relationship Id="rId26" Type="http://schemas.openxmlformats.org/officeDocument/2006/relationships/notesMaster" Target="notesMasters/notesMaster1.xml"/><Relationship Id="rId27" Type="http://schemas.openxmlformats.org/officeDocument/2006/relationships/theme" Target="theme/theme2.xml"/><Relationship Id="rId28" Type="http://schemas.openxmlformats.org/officeDocument/2006/relationships/notesSlide" Target="notesSlides/notesSlide1.xml"/><Relationship Id="rId29" Type="http://schemas.openxmlformats.org/officeDocument/2006/relationships/notesSlide" Target="notesSlides/notesSlide2.xml"/><Relationship Id="rId30" Type="http://schemas.openxmlformats.org/officeDocument/2006/relationships/notesSlide" Target="notesSlides/notesSlide3.xml"/><Relationship Id="rId31" Type="http://schemas.openxmlformats.org/officeDocument/2006/relationships/notesSlide" Target="notesSlides/notesSlide4.xml"/><Relationship Id="rId32" Type="http://schemas.openxmlformats.org/officeDocument/2006/relationships/notesSlide" Target="notesSlides/notesSlide5.xml"/><Relationship Id="rId33" Type="http://schemas.openxmlformats.org/officeDocument/2006/relationships/notesSlide" Target="notesSlides/notesSlide6.xml"/><Relationship Id="rId34" Type="http://schemas.openxmlformats.org/officeDocument/2006/relationships/font" Target="fonts/font34.fntdata"/><Relationship Id="rId35" Type="http://schemas.openxmlformats.org/officeDocument/2006/relationships/notesSlide" Target="notesSlides/notesSlide7.xml"/><Relationship Id="rId36" Type="http://schemas.openxmlformats.org/officeDocument/2006/relationships/notesSlide" Target="notesSlides/notesSlide8.xml"/><Relationship Id="rId37" Type="http://schemas.openxmlformats.org/officeDocument/2006/relationships/notesSlide" Target="notesSlides/notesSlide9.xml"/><Relationship Id="rId38" Type="http://schemas.openxmlformats.org/officeDocument/2006/relationships/notesSlide" Target="notesSlides/notesSlide10.xml"/><Relationship Id="rId39" Type="http://schemas.openxmlformats.org/officeDocument/2006/relationships/notesSlide" Target="notesSlides/notesSlide11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5" Type="http://schemas.openxmlformats.org/officeDocument/2006/relationships/slide" Target="slides/slide35.xml"/><Relationship Id="rId56" Type="http://schemas.openxmlformats.org/officeDocument/2006/relationships/slide" Target="slides/slide36.xml"/><Relationship Id="rId57" Type="http://schemas.openxmlformats.org/officeDocument/2006/relationships/slide" Target="slides/slide37.xml"/><Relationship Id="rId58" Type="http://schemas.openxmlformats.org/officeDocument/2006/relationships/slide" Target="slides/slide38.xml"/><Relationship Id="rId59" Type="http://schemas.openxmlformats.org/officeDocument/2006/relationships/slide" Target="slides/slide39.xml"/><Relationship Id="rId60" Type="http://schemas.openxmlformats.org/officeDocument/2006/relationships/slide" Target="slides/slide40.xml"/><Relationship Id="rId61" Type="http://schemas.openxmlformats.org/officeDocument/2006/relationships/slide" Target="slides/slide41.xml"/><Relationship Id="rId62" Type="http://schemas.openxmlformats.org/officeDocument/2006/relationships/slide" Target="slides/slide42.xml"/><Relationship Id="rId63" Type="http://schemas.openxmlformats.org/officeDocument/2006/relationships/slide" Target="slides/slide43.xml"/><Relationship Id="rId64" Type="http://schemas.openxmlformats.org/officeDocument/2006/relationships/slide" Target="slides/slide44.xml"/><Relationship Id="rId65" Type="http://schemas.openxmlformats.org/officeDocument/2006/relationships/slide" Target="slides/slide45.xml"/><Relationship Id="rId66" Type="http://schemas.openxmlformats.org/officeDocument/2006/relationships/slide" Target="slides/slide46.xml"/><Relationship Id="rId67" Type="http://schemas.openxmlformats.org/officeDocument/2006/relationships/slide" Target="slides/slide47.xml"/><Relationship Id="rId68" Type="http://schemas.openxmlformats.org/officeDocument/2006/relationships/slide" Target="slides/slide48.xml"/><Relationship Id="rId69" Type="http://schemas.openxmlformats.org/officeDocument/2006/relationships/slide" Target="slides/slide49.xml"/><Relationship Id="rId70" Type="http://schemas.openxmlformats.org/officeDocument/2006/relationships/slide" Target="slides/slide50.xml"/><Relationship Id="rId71" Type="http://schemas.openxmlformats.org/officeDocument/2006/relationships/slide" Target="slides/slide51.xml"/><Relationship Id="rId72" Type="http://schemas.openxmlformats.org/officeDocument/2006/relationships/slide" Target="slides/slide52.xml"/><Relationship Id="rId73" Type="http://schemas.openxmlformats.org/officeDocument/2006/relationships/slide" Target="slides/slide53.xml"/><Relationship Id="rId74" Type="http://schemas.openxmlformats.org/officeDocument/2006/relationships/slide" Target="slides/slide54.xml"/><Relationship Id="rId75" Type="http://schemas.openxmlformats.org/officeDocument/2006/relationships/slide" Target="slides/slide55.xml"/><Relationship Id="rId76" Type="http://schemas.openxmlformats.org/officeDocument/2006/relationships/slide" Target="slides/slide56.xml"/><Relationship Id="rId77" Type="http://schemas.openxmlformats.org/officeDocument/2006/relationships/slide" Target="slides/slide57.xml"/><Relationship Id="rId78" Type="http://schemas.openxmlformats.org/officeDocument/2006/relationships/slide" Target="slides/slide58.xml"/><Relationship Id="rId79" Type="http://schemas.openxmlformats.org/officeDocument/2006/relationships/slide" Target="slides/slide59.xml"/><Relationship Id="rId80" Type="http://schemas.openxmlformats.org/officeDocument/2006/relationships/slide" Target="slides/slide60.xml"/><Relationship Id="rId81" Type="http://schemas.openxmlformats.org/officeDocument/2006/relationships/slide" Target="slides/slide61.xml"/><Relationship Id="rId82" Type="http://schemas.openxmlformats.org/officeDocument/2006/relationships/slide" Target="slides/slide62.xml"/><Relationship Id="rId83" Type="http://schemas.openxmlformats.org/officeDocument/2006/relationships/slide" Target="slides/slide63.xml"/><Relationship Id="rId84" Type="http://schemas.openxmlformats.org/officeDocument/2006/relationships/slide" Target="slides/slide64.xml"/><Relationship Id="rId85" Type="http://schemas.openxmlformats.org/officeDocument/2006/relationships/slide" Target="slides/slide65.xml"/><Relationship Id="rId86" Type="http://schemas.openxmlformats.org/officeDocument/2006/relationships/slide" Target="slides/slide66.xml"/><Relationship Id="rId87" Type="http://schemas.openxmlformats.org/officeDocument/2006/relationships/slide" Target="slides/slide67.xml"/><Relationship Id="rId88" Type="http://schemas.openxmlformats.org/officeDocument/2006/relationships/slide" Target="slides/slide68.xml"/><Relationship Id="rId89" Type="http://schemas.openxmlformats.org/officeDocument/2006/relationships/slide" Target="slides/slide69.xml"/><Relationship Id="rId90" Type="http://schemas.openxmlformats.org/officeDocument/2006/relationships/slide" Target="slides/slide70.xml"/><Relationship Id="rId91" Type="http://schemas.openxmlformats.org/officeDocument/2006/relationships/slide" Target="slides/slide71.xml"/><Relationship Id="rId92" Type="http://schemas.openxmlformats.org/officeDocument/2006/relationships/slide" Target="slides/slide72.xml"/><Relationship Id="rId93" Type="http://schemas.openxmlformats.org/officeDocument/2006/relationships/slide" Target="slides/slide73.xml"/><Relationship Id="rId94" Type="http://schemas.openxmlformats.org/officeDocument/2006/relationships/slide" Target="slides/slide74.xml"/><Relationship Id="rId95" Type="http://schemas.openxmlformats.org/officeDocument/2006/relationships/slide" Target="slides/slide75.xml"/><Relationship Id="rId96" Type="http://schemas.openxmlformats.org/officeDocument/2006/relationships/slide" Target="slides/slide76.xml"/><Relationship Id="rId97" Type="http://schemas.openxmlformats.org/officeDocument/2006/relationships/slide" Target="slides/slide77.xml"/><Relationship Id="rId98" Type="http://schemas.openxmlformats.org/officeDocument/2006/relationships/slide" Target="slides/slide78.xml"/><Relationship Id="rId99" Type="http://schemas.openxmlformats.org/officeDocument/2006/relationships/slide" Target="slides/slide79.xml"/><Relationship Id="rId100" Type="http://schemas.openxmlformats.org/officeDocument/2006/relationships/slide" Target="slides/slide80.xml"/><Relationship Id="rId101" Type="http://schemas.openxmlformats.org/officeDocument/2006/relationships/slide" Target="slides/slide81.xml"/><Relationship Id="rId102" Type="http://schemas.openxmlformats.org/officeDocument/2006/relationships/slide" Target="slides/slide82.xml"/><Relationship Id="rId103" Type="http://schemas.openxmlformats.org/officeDocument/2006/relationships/slide" Target="slides/slide83.xml"/><Relationship Id="rId104" Type="http://schemas.openxmlformats.org/officeDocument/2006/relationships/slide" Target="slides/slide84.xml"/><Relationship Id="rId105" Type="http://schemas.openxmlformats.org/officeDocument/2006/relationships/slide" Target="slides/slide85.xml"/><Relationship Id="rId106" Type="http://schemas.openxmlformats.org/officeDocument/2006/relationships/slide" Target="slides/slide86.xml"/><Relationship Id="rId107" Type="http://schemas.openxmlformats.org/officeDocument/2006/relationships/slide" Target="slides/slide87.xml"/><Relationship Id="rId108" Type="http://schemas.openxmlformats.org/officeDocument/2006/relationships/slide" Target="slides/slide88.xml"/><Relationship Id="rId109" Type="http://schemas.openxmlformats.org/officeDocument/2006/relationships/slide" Target="slides/slide89.xml"/><Relationship Id="rId110" Type="http://schemas.openxmlformats.org/officeDocument/2006/relationships/slide" Target="slides/slide90.xml"/><Relationship Id="rId111" Type="http://schemas.openxmlformats.org/officeDocument/2006/relationships/slide" Target="slides/slide91.xml"/><Relationship Id="rId112" Type="http://schemas.openxmlformats.org/officeDocument/2006/relationships/slide" Target="slides/slide92.xml"/><Relationship Id="rId113" Type="http://schemas.openxmlformats.org/officeDocument/2006/relationships/slide" Target="slides/slide93.xml"/><Relationship Id="rId114" Type="http://schemas.openxmlformats.org/officeDocument/2006/relationships/slide" Target="slides/slide94.xml"/><Relationship Id="rId115" Type="http://schemas.openxmlformats.org/officeDocument/2006/relationships/slide" Target="slides/slide95.xml"/><Relationship Id="rId116" Type="http://schemas.openxmlformats.org/officeDocument/2006/relationships/slide" Target="slides/slide96.xml"/><Relationship Id="rId117" Type="http://schemas.openxmlformats.org/officeDocument/2006/relationships/slide" Target="slides/slide97.xml"/><Relationship Id="rId118" Type="http://schemas.openxmlformats.org/officeDocument/2006/relationships/slide" Target="slides/slide98.xml"/><Relationship Id="rId119" Type="http://schemas.openxmlformats.org/officeDocument/2006/relationships/slide" Target="slides/slide99.xml"/><Relationship Id="rId120" Type="http://schemas.openxmlformats.org/officeDocument/2006/relationships/slide" Target="slides/slide100.xml"/><Relationship Id="rId121" Type="http://schemas.openxmlformats.org/officeDocument/2006/relationships/slide" Target="slides/slide101.xml"/><Relationship Id="rId122" Type="http://schemas.openxmlformats.org/officeDocument/2006/relationships/slide" Target="slides/slide102.xml"/><Relationship Id="rId123" Type="http://schemas.openxmlformats.org/officeDocument/2006/relationships/slide" Target="slides/slide103.xml"/><Relationship Id="rId124" Type="http://schemas.openxmlformats.org/officeDocument/2006/relationships/slide" Target="slides/slide104.xml"/><Relationship Id="rId125" Type="http://schemas.openxmlformats.org/officeDocument/2006/relationships/slide" Target="slides/slide105.xml"/><Relationship Id="rId126" Type="http://schemas.openxmlformats.org/officeDocument/2006/relationships/slide" Target="slides/slide106.xml"/><Relationship Id="rId127" Type="http://schemas.openxmlformats.org/officeDocument/2006/relationships/slide" Target="slides/slide107.xml"/><Relationship Id="rId128" Type="http://schemas.openxmlformats.org/officeDocument/2006/relationships/slide" Target="slides/slide108.xml"/><Relationship Id="rId129" Type="http://schemas.openxmlformats.org/officeDocument/2006/relationships/slide" Target="slides/slide109.xml"/><Relationship Id="rId130" Type="http://schemas.openxmlformats.org/officeDocument/2006/relationships/slide" Target="slides/slide110.xml"/><Relationship Id="rId131" Type="http://schemas.openxmlformats.org/officeDocument/2006/relationships/slide" Target="slides/slide111.xml"/><Relationship Id="rId132" Type="http://schemas.openxmlformats.org/officeDocument/2006/relationships/slide" Target="slides/slide112.xml"/><Relationship Id="rId133" Type="http://schemas.openxmlformats.org/officeDocument/2006/relationships/slide" Target="slides/slide113.xml"/><Relationship Id="rId134" Type="http://schemas.openxmlformats.org/officeDocument/2006/relationships/slide" Target="slides/slide114.xml"/><Relationship Id="rId135" Type="http://schemas.openxmlformats.org/officeDocument/2006/relationships/slide" Target="slides/slide1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5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6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추천 검색어: "장마 시작 뉴스" (KBS News, MBCNEWS, SBS 뉴스, YTN, 연합뉴스TV 공식 채널, 1~2분 리포트)</a:t>
            </a:r>
          </a:p>
          <a:p>
            <a:r>
              <a:rPr lang="en-US"/>
              <a:t>넣는 법: 가운데 점선 상자를 지우고 삽입 → 비디오 → 온라인 비디오 → 유튜브 주소 붙여넣기 → 상자 자리에 맞춰 크기 조절</a:t>
            </a:r>
          </a:p>
          <a:p>
            <a:r>
              <a:rPr lang="en-US"/>
              <a:t>7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9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10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추천 검색어: "김장철 뉴스" 또는 "김장문화 유네스코"</a:t>
            </a:r>
          </a:p>
          <a:p>
            <a:r>
              <a:rPr lang="en-US"/>
              <a:t>넣는 법: 가운데 점선 상자를 지우고 삽입 → 비디오 → 온라인 비디오 → 유튜브 주소 붙여넣기</a:t>
            </a:r>
          </a:p>
          <a:p>
            <a:r>
              <a:rPr lang="en-US"/>
              <a:t>15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4.jpeg"/><Relationship Id="rId4" Type="http://schemas.microsoft.com/office/2007/relationships/media" Target="../media/aAHQEnjf4SQ.m4a"/><Relationship Id="rId5" Type="http://schemas.openxmlformats.org/officeDocument/2006/relationships/audio" Target="../media/aAHQEnjf4SQ.m4a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hyperlink" Target="https://www.youtube.com/watch?v=ET0PX_5CTlI" TargetMode="External"/><Relationship Id="rId6" Type="http://schemas.openxmlformats.org/officeDocument/2006/relationships/image" Target="../media/image12.png"/><Relationship Id="rId7" Type="http://schemas.openxmlformats.org/officeDocument/2006/relationships/image" Target="../media/image13.svg"/><Relationship Id="rId8" Type="http://schemas.openxmlformats.org/officeDocument/2006/relationships/image" Target="../media/image14.jpeg"/><Relationship Id="rId9" Type="http://schemas.openxmlformats.org/officeDocument/2006/relationships/image" Target="../media/image15.jpeg"/><Relationship Id="rId10" Type="http://schemas.openxmlformats.org/officeDocument/2006/relationships/image" Target="../media/image16.png"/><Relationship Id="rId11" Type="http://schemas.openxmlformats.org/officeDocument/2006/relationships/image" Target="../media/image17.svg"/><Relationship Id="rId12" Type="http://schemas.openxmlformats.org/officeDocument/2006/relationships/hyperlink" Target="https://www.youtube.com/watch?v=ET0PX_5CTlI" TargetMode="External"/><Relationship Id="rId13" Type="http://schemas.openxmlformats.org/officeDocument/2006/relationships/image" Target="../media/image18.png"/><Relationship Id="rId14" Type="http://schemas.openxmlformats.org/officeDocument/2006/relationships/image" Target="../media/image19.svg"/><Relationship Id="rId15" Type="http://schemas.openxmlformats.org/officeDocument/2006/relationships/image" Target="../media/image20.png"/><Relationship Id="rId16" Type="http://schemas.openxmlformats.org/officeDocument/2006/relationships/image" Target="../media/image21.svg"/><Relationship Id="rId17" Type="http://schemas.openxmlformats.org/officeDocument/2006/relationships/image" Target="../media/image22.png"/><Relationship Id="rId18" Type="http://schemas.openxmlformats.org/officeDocument/2006/relationships/image" Target="../media/image23.svg"/><Relationship Id="rId19" Type="http://schemas.openxmlformats.org/officeDocument/2006/relationships/image" Target="../media/image24.png"/><Relationship Id="rId20" Type="http://schemas.openxmlformats.org/officeDocument/2006/relationships/image" Target="../media/image25.svg"/><Relationship Id="rId21" Type="http://schemas.openxmlformats.org/officeDocument/2006/relationships/image" Target="../media/image26.jpeg"/><Relationship Id="rId22" Type="http://schemas.openxmlformats.org/officeDocument/2006/relationships/video" Target="https://www.youtube.com/watch?v=ET0PX_5CTlI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png"/><Relationship Id="rId6" Type="http://schemas.openxmlformats.org/officeDocument/2006/relationships/image" Target="../media/image13.svg"/><Relationship Id="rId7" Type="http://schemas.openxmlformats.org/officeDocument/2006/relationships/image" Target="../media/image14.jpeg"/><Relationship Id="rId8" Type="http://schemas.openxmlformats.org/officeDocument/2006/relationships/image" Target="../media/image15.jpeg"/><Relationship Id="rId9" Type="http://schemas.openxmlformats.org/officeDocument/2006/relationships/image" Target="../media/image16.png"/><Relationship Id="rId10" Type="http://schemas.openxmlformats.org/officeDocument/2006/relationships/image" Target="../media/image17.svg"/><Relationship Id="rId11" Type="http://schemas.openxmlformats.org/officeDocument/2006/relationships/image" Target="../media/image31.png"/><Relationship Id="rId12" Type="http://schemas.openxmlformats.org/officeDocument/2006/relationships/image" Target="../media/image32.svg"/><Relationship Id="rId13" Type="http://schemas.openxmlformats.org/officeDocument/2006/relationships/image" Target="../media/image33.png"/><Relationship Id="rId14" Type="http://schemas.openxmlformats.org/officeDocument/2006/relationships/image" Target="../media/image34.svg"/><Relationship Id="rId15" Type="http://schemas.openxmlformats.org/officeDocument/2006/relationships/image" Target="../media/image18.png"/><Relationship Id="rId16" Type="http://schemas.openxmlformats.org/officeDocument/2006/relationships/image" Target="../media/image19.svg"/><Relationship Id="rId17" Type="http://schemas.openxmlformats.org/officeDocument/2006/relationships/image" Target="../media/image20.png"/><Relationship Id="rId18" Type="http://schemas.openxmlformats.org/officeDocument/2006/relationships/image" Target="../media/image21.svg"/><Relationship Id="rId19" Type="http://schemas.openxmlformats.org/officeDocument/2006/relationships/image" Target="../media/image22.png"/><Relationship Id="rId20" Type="http://schemas.openxmlformats.org/officeDocument/2006/relationships/image" Target="../media/image23.svg"/><Relationship Id="rId21" Type="http://schemas.openxmlformats.org/officeDocument/2006/relationships/image" Target="../media/image24.png"/><Relationship Id="rId22" Type="http://schemas.openxmlformats.org/officeDocument/2006/relationships/image" Target="../media/image25.svg"/><Relationship Id="rId23" Type="http://schemas.openxmlformats.org/officeDocument/2006/relationships/image" Target="../media/image26.jpeg"/><Relationship Id="rId24" Type="http://schemas.openxmlformats.org/officeDocument/2006/relationships/video" Target="https://www.youtube.com/watch?v=OKOF3Yc-ePU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svg"/><Relationship Id="rId4" Type="http://schemas.openxmlformats.org/officeDocument/2006/relationships/image" Target="../media/image37.png"/><Relationship Id="rId5" Type="http://schemas.openxmlformats.org/officeDocument/2006/relationships/image" Target="../media/image38.svg"/><Relationship Id="rId6" Type="http://schemas.openxmlformats.org/officeDocument/2006/relationships/image" Target="../media/image39.png"/><Relationship Id="rId7" Type="http://schemas.openxmlformats.org/officeDocument/2006/relationships/image" Target="../media/image40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pen.spotify.com/track/1SwZVVH9BnXtLRLi2cbFhw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pen.spotify.com/track/1hIuSG6xV4RDgD8bDVKP7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pen.spotify.com/track/03UrZgTINDqvnUMbbIMhq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48999" y="0"/>
            <a:ext cx="20385998" cy="20310214"/>
          </a:xfrm>
          <a:custGeom>
            <a:avLst/>
            <a:gdLst/>
            <a:ahLst/>
            <a:cxnLst/>
            <a:rect r="r" b="b" t="t" l="l"/>
            <a:pathLst>
              <a:path h="20310214" w="20385998">
                <a:moveTo>
                  <a:pt x="0" y="0"/>
                </a:moveTo>
                <a:lnTo>
                  <a:pt x="20385998" y="0"/>
                </a:lnTo>
                <a:lnTo>
                  <a:pt x="20385998" y="20310214"/>
                </a:lnTo>
                <a:lnTo>
                  <a:pt x="0" y="203102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449364">
            <a:off x="11439084" y="2249854"/>
            <a:ext cx="2690718" cy="2729932"/>
          </a:xfrm>
          <a:custGeom>
            <a:avLst/>
            <a:gdLst/>
            <a:ahLst/>
            <a:cxnLst/>
            <a:rect r="r" b="b" t="t" l="l"/>
            <a:pathLst>
              <a:path h="2729932" w="2690718">
                <a:moveTo>
                  <a:pt x="0" y="0"/>
                </a:moveTo>
                <a:lnTo>
                  <a:pt x="2690718" y="0"/>
                </a:lnTo>
                <a:lnTo>
                  <a:pt x="2690718" y="2729933"/>
                </a:lnTo>
                <a:lnTo>
                  <a:pt x="0" y="27299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034747" t="-719076" r="-1107351" b="-236457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87480" y="3373196"/>
            <a:ext cx="1708758" cy="1770304"/>
          </a:xfrm>
          <a:custGeom>
            <a:avLst/>
            <a:gdLst/>
            <a:ahLst/>
            <a:cxnLst/>
            <a:rect r="r" b="b" t="t" l="l"/>
            <a:pathLst>
              <a:path h="1770304" w="1708758">
                <a:moveTo>
                  <a:pt x="0" y="0"/>
                </a:moveTo>
                <a:lnTo>
                  <a:pt x="1708758" y="0"/>
                </a:lnTo>
                <a:lnTo>
                  <a:pt x="1708758" y="1770304"/>
                </a:lnTo>
                <a:lnTo>
                  <a:pt x="0" y="17703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01599" t="-76473" r="-197632" b="-592104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04662">
            <a:off x="5337448" y="4083694"/>
            <a:ext cx="6422966" cy="962270"/>
          </a:xfrm>
          <a:custGeom>
            <a:avLst/>
            <a:gdLst/>
            <a:ahLst/>
            <a:cxnLst/>
            <a:rect r="r" b="b" t="t" l="l"/>
            <a:pathLst>
              <a:path h="962270" w="6422966">
                <a:moveTo>
                  <a:pt x="0" y="0"/>
                </a:moveTo>
                <a:lnTo>
                  <a:pt x="6422966" y="0"/>
                </a:lnTo>
                <a:lnTo>
                  <a:pt x="6422966" y="962271"/>
                </a:lnTo>
                <a:lnTo>
                  <a:pt x="0" y="96227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440783" t="-3744263" r="-754912" b="-11422093"/>
            </a:stretch>
          </a:blipFill>
        </p:spPr>
      </p:sp>
      <p:sp>
        <p:nvSpPr>
          <p:cNvPr name="TextBox 6" id="6"/>
          <p:cNvSpPr txBox="true"/>
          <p:nvPr/>
        </p:nvSpPr>
        <p:spPr>
          <a:xfrm rot="-1920822">
            <a:off x="6574806" y="1374484"/>
            <a:ext cx="10847955" cy="2951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12"/>
              </a:lnSpc>
            </a:pPr>
            <a:r>
              <a:rPr lang="en-US" sz="7937">
                <a:solidFill>
                  <a:srgbClr val="000000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더 </a:t>
            </a:r>
          </a:p>
          <a:p>
            <a:pPr algn="ctr">
              <a:lnSpc>
                <a:spcPts val="11112"/>
              </a:lnSpc>
            </a:pPr>
            <a:r>
              <a:rPr lang="en-US" sz="7937">
                <a:solidFill>
                  <a:srgbClr val="000000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선뙈기후: 온대기후방 </a:t>
            </a:r>
          </a:p>
        </p:txBody>
      </p:sp>
      <p:pic>
        <p:nvPicPr>
          <p:cNvPr name="Picture 7" id="7">
            <a:hlinkClick action="ppaction://media"/>
          </p:cNvPr>
          <p:cNvPicPr>
            <a:picLocks noChangeAspect="true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629650" y="4629150"/>
            <a:ext cx="1028700" cy="1028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cmd cmd="playFrom(0.0)">
              <p:cBhvr>
                <p:cTn/>
                <p:tgtEl>
                  <p:spTgt spid="7"/>
                </p:tgtEl>
              </p:cBhvr>
            </p:cmd>
            <p:audio>
              <p:cMediaNode vol="400000" showWhenStopped="false">
                <p:cTn/>
                <p:tgtEl>
                  <p:spTgt spid="7"/>
                </p:tgtEl>
              </p:cMediaNode>
            </p:audio>
          </p:childTnLst>
        </p:cTn>
      </p:par>
    </p:tnLst>
  </p:timing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878205"/>
            <a:ext cx="16109012" cy="7911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FFFFFF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여기서 잠깐!</a:t>
            </a:r>
          </a:p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FFFFFF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  온대기후에 대해 먼저 배우고 갑시다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1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29222" y="1463564"/>
            <a:ext cx="3519145" cy="6805165"/>
            <a:chOff x="0" y="0"/>
            <a:chExt cx="4692193" cy="90735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692142" cy="9073515"/>
            </a:xfrm>
            <a:custGeom>
              <a:avLst/>
              <a:gdLst/>
              <a:ahLst/>
              <a:cxnLst/>
              <a:rect r="r" b="b" t="t" l="l"/>
              <a:pathLst>
                <a:path h="9073515" w="4692142">
                  <a:moveTo>
                    <a:pt x="0" y="0"/>
                  </a:moveTo>
                  <a:lnTo>
                    <a:pt x="4692142" y="0"/>
                  </a:lnTo>
                  <a:lnTo>
                    <a:pt x="4692142" y="9073515"/>
                  </a:lnTo>
                  <a:lnTo>
                    <a:pt x="0" y="9073515"/>
                  </a:lnTo>
                  <a:close/>
                </a:path>
              </a:pathLst>
            </a:custGeom>
            <a:blipFill>
              <a:blip r:embed="rId4"/>
              <a:stretch>
                <a:fillRect l="0" t="-1311" r="-1" b="-1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89912" y="1463564"/>
            <a:ext cx="3338865" cy="5350907"/>
            <a:chOff x="0" y="0"/>
            <a:chExt cx="4451820" cy="713454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51858" cy="7134606"/>
            </a:xfrm>
            <a:custGeom>
              <a:avLst/>
              <a:gdLst/>
              <a:ahLst/>
              <a:cxnLst/>
              <a:rect r="r" b="b" t="t" l="l"/>
              <a:pathLst>
                <a:path h="7134606" w="4451858">
                  <a:moveTo>
                    <a:pt x="0" y="0"/>
                  </a:moveTo>
                  <a:lnTo>
                    <a:pt x="4451858" y="0"/>
                  </a:lnTo>
                  <a:lnTo>
                    <a:pt x="4451858" y="7134606"/>
                  </a:lnTo>
                  <a:lnTo>
                    <a:pt x="0" y="713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2453" t="0" r="-92452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2052567" y="1358656"/>
            <a:ext cx="3820044" cy="5455814"/>
          </a:xfrm>
          <a:custGeom>
            <a:avLst/>
            <a:gdLst/>
            <a:ahLst/>
            <a:cxnLst/>
            <a:rect r="r" b="b" t="t" l="l"/>
            <a:pathLst>
              <a:path h="5455814" w="3820044">
                <a:moveTo>
                  <a:pt x="0" y="0"/>
                </a:moveTo>
                <a:lnTo>
                  <a:pt x="3820044" y="0"/>
                </a:lnTo>
                <a:lnTo>
                  <a:pt x="3820044" y="5455815"/>
                </a:lnTo>
                <a:lnTo>
                  <a:pt x="0" y="54558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55282" t="0" r="0" b="-39928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3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4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5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6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>
            <a:hlinkClick r:id="rId5" tooltip="https://www.youtube.com/watch?v=ET0PX_5CTlI"/>
          </p:cNvPr>
          <p:cNvSpPr/>
          <p:nvPr/>
        </p:nvSpPr>
        <p:spPr>
          <a:xfrm flipH="false" flipV="false" rot="0">
            <a:off x="336547" y="336547"/>
            <a:ext cx="17818036" cy="9740836"/>
          </a:xfrm>
          <a:custGeom>
            <a:avLst/>
            <a:gdLst/>
            <a:ahLst/>
            <a:cxnLst/>
            <a:rect r="r" b="b" t="t" l="l"/>
            <a:pathLst>
              <a:path h="9740836" w="17818036">
                <a:moveTo>
                  <a:pt x="0" y="0"/>
                </a:moveTo>
                <a:lnTo>
                  <a:pt x="17818036" y="0"/>
                </a:lnTo>
                <a:lnTo>
                  <a:pt x="17818036" y="9740836"/>
                </a:lnTo>
                <a:lnTo>
                  <a:pt x="0" y="9740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95375" y="841372"/>
            <a:ext cx="2457450" cy="615886"/>
          </a:xfrm>
          <a:custGeom>
            <a:avLst/>
            <a:gdLst/>
            <a:ahLst/>
            <a:cxnLst/>
            <a:rect r="r" b="b" t="t" l="l"/>
            <a:pathLst>
              <a:path h="615886" w="2457450">
                <a:moveTo>
                  <a:pt x="0" y="0"/>
                </a:moveTo>
                <a:lnTo>
                  <a:pt x="2457450" y="0"/>
                </a:lnTo>
                <a:lnTo>
                  <a:pt x="2457450" y="615886"/>
                </a:lnTo>
                <a:lnTo>
                  <a:pt x="0" y="6158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17291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291">
                  <a:moveTo>
                    <a:pt x="0" y="0"/>
                  </a:moveTo>
                  <a:lnTo>
                    <a:pt x="3217291" y="0"/>
                  </a:lnTo>
                  <a:lnTo>
                    <a:pt x="3217291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2213" r="-1" b="-3221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17329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329">
                  <a:moveTo>
                    <a:pt x="0" y="0"/>
                  </a:moveTo>
                  <a:lnTo>
                    <a:pt x="3217329" y="0"/>
                  </a:lnTo>
                  <a:lnTo>
                    <a:pt x="3217329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2270" r="0" b="-3227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3217329" cy="762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spc="6">
                  <a:solidFill>
                    <a:srgbClr val="1F3A1F"/>
                  </a:solidFill>
                  <a:latin typeface="Mandali"/>
                  <a:ea typeface="Mandali"/>
                  <a:cs typeface="Mandali"/>
                  <a:sym typeface="Mandali"/>
                </a:rPr>
                <a:t>뉴스로 보기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166710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4525" r="0" b="-274525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66671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4750" r="0" b="-27475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66671" cy="1270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280"/>
                </a:lnSpc>
              </a:pPr>
              <a:r>
                <a:rPr lang="en-US" sz="4400" spc="17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장마, 온대 계절풍 기후의 여름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7597" y="2603497"/>
            <a:ext cx="15875003" cy="431797"/>
            <a:chOff x="0" y="0"/>
            <a:chExt cx="21166671" cy="57572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166710" cy="575691"/>
            </a:xfrm>
            <a:custGeom>
              <a:avLst/>
              <a:gdLst/>
              <a:ahLst/>
              <a:cxnLst/>
              <a:rect r="r" b="b" t="t" l="l"/>
              <a:pathLst>
                <a:path h="575691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575691"/>
                  </a:lnTo>
                  <a:lnTo>
                    <a:pt x="0" y="57569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5912" r="0" b="-66592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17597" y="2610641"/>
            <a:ext cx="15875003" cy="424653"/>
            <a:chOff x="0" y="0"/>
            <a:chExt cx="21166671" cy="5662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66671" cy="566204"/>
            </a:xfrm>
            <a:custGeom>
              <a:avLst/>
              <a:gdLst/>
              <a:ahLst/>
              <a:cxnLst/>
              <a:rect r="r" b="b" t="t" l="l"/>
              <a:pathLst>
                <a:path h="566204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566204"/>
                  </a:lnTo>
                  <a:lnTo>
                    <a:pt x="0" y="56620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678417" r="0" b="-67841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21166671" cy="5566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뉴스 속에서 “여름은 덥고 습해요”를 확인해 볼까요?</a:t>
              </a:r>
            </a:p>
          </p:txBody>
        </p:sp>
      </p:grpSp>
      <p:sp>
        <p:nvSpPr>
          <p:cNvPr name="Freeform 19" id="19">
            <a:hlinkClick r:id="rId12" tooltip="https://www.youtube.com/watch?v=ET0PX_5CTlI"/>
          </p:cNvPr>
          <p:cNvSpPr/>
          <p:nvPr/>
        </p:nvSpPr>
        <p:spPr>
          <a:xfrm flipH="false" flipV="false" rot="0">
            <a:off x="1084259" y="3243262"/>
            <a:ext cx="10226612" cy="5781675"/>
          </a:xfrm>
          <a:custGeom>
            <a:avLst/>
            <a:gdLst/>
            <a:ahLst/>
            <a:cxnLst/>
            <a:rect r="r" b="b" t="t" l="l"/>
            <a:pathLst>
              <a:path h="5781675" w="10226612">
                <a:moveTo>
                  <a:pt x="0" y="0"/>
                </a:moveTo>
                <a:lnTo>
                  <a:pt x="10226612" y="0"/>
                </a:lnTo>
                <a:lnTo>
                  <a:pt x="10226612" y="5781676"/>
                </a:lnTo>
                <a:lnTo>
                  <a:pt x="0" y="578167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117597" y="9118597"/>
            <a:ext cx="10160003" cy="436693"/>
            <a:chOff x="0" y="0"/>
            <a:chExt cx="13546671" cy="58225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546710" cy="582295"/>
            </a:xfrm>
            <a:custGeom>
              <a:avLst/>
              <a:gdLst/>
              <a:ahLst/>
              <a:cxnLst/>
              <a:rect r="r" b="b" t="t" l="l"/>
              <a:pathLst>
                <a:path h="582295" w="13546710">
                  <a:moveTo>
                    <a:pt x="0" y="0"/>
                  </a:moveTo>
                  <a:lnTo>
                    <a:pt x="13546710" y="0"/>
                  </a:lnTo>
                  <a:lnTo>
                    <a:pt x="13546710" y="582295"/>
                  </a:lnTo>
                  <a:lnTo>
                    <a:pt x="0" y="58229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02992" r="0" b="-402988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117597" y="9111453"/>
            <a:ext cx="10160003" cy="443836"/>
            <a:chOff x="0" y="0"/>
            <a:chExt cx="13546671" cy="59178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546671" cy="591785"/>
            </a:xfrm>
            <a:custGeom>
              <a:avLst/>
              <a:gdLst/>
              <a:ahLst/>
              <a:cxnLst/>
              <a:rect r="r" b="b" t="t" l="l"/>
              <a:pathLst>
                <a:path h="591785" w="13546671">
                  <a:moveTo>
                    <a:pt x="0" y="0"/>
                  </a:moveTo>
                  <a:lnTo>
                    <a:pt x="13546671" y="0"/>
                  </a:lnTo>
                  <a:lnTo>
                    <a:pt x="13546671" y="591785"/>
                  </a:lnTo>
                  <a:lnTo>
                    <a:pt x="0" y="59178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96036" r="0" b="-39603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13546671" cy="60130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출처:          KBS  뉴스 (    2026년    6월    24일)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1763375" y="3254378"/>
            <a:ext cx="5632418" cy="5759482"/>
          </a:xfrm>
          <a:custGeom>
            <a:avLst/>
            <a:gdLst/>
            <a:ahLst/>
            <a:cxnLst/>
            <a:rect r="r" b="b" t="t" l="l"/>
            <a:pathLst>
              <a:path h="5759482" w="5632418">
                <a:moveTo>
                  <a:pt x="0" y="0"/>
                </a:moveTo>
                <a:lnTo>
                  <a:pt x="5632418" y="0"/>
                </a:lnTo>
                <a:lnTo>
                  <a:pt x="5632418" y="5759482"/>
                </a:lnTo>
                <a:lnTo>
                  <a:pt x="0" y="57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12166597" y="3632197"/>
            <a:ext cx="4826003" cy="507997"/>
            <a:chOff x="0" y="0"/>
            <a:chExt cx="6434671" cy="67732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34709" cy="677291"/>
            </a:xfrm>
            <a:custGeom>
              <a:avLst/>
              <a:gdLst/>
              <a:ahLst/>
              <a:cxnLst/>
              <a:rect r="r" b="b" t="t" l="l"/>
              <a:pathLst>
                <a:path h="677291" w="6434709">
                  <a:moveTo>
                    <a:pt x="0" y="0"/>
                  </a:moveTo>
                  <a:lnTo>
                    <a:pt x="6434709" y="0"/>
                  </a:lnTo>
                  <a:lnTo>
                    <a:pt x="6434709" y="677291"/>
                  </a:lnTo>
                  <a:lnTo>
                    <a:pt x="0" y="67729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34987" r="0" b="-134993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66597" y="3639341"/>
            <a:ext cx="4826003" cy="500853"/>
            <a:chOff x="0" y="0"/>
            <a:chExt cx="6434671" cy="6678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434671" cy="667804"/>
            </a:xfrm>
            <a:custGeom>
              <a:avLst/>
              <a:gdLst/>
              <a:ahLst/>
              <a:cxnLst/>
              <a:rect r="r" b="b" t="t" l="l"/>
              <a:pathLst>
                <a:path h="667804" w="6434671">
                  <a:moveTo>
                    <a:pt x="0" y="0"/>
                  </a:moveTo>
                  <a:lnTo>
                    <a:pt x="6434671" y="0"/>
                  </a:lnTo>
                  <a:lnTo>
                    <a:pt x="6434671" y="667804"/>
                  </a:lnTo>
                  <a:lnTo>
                    <a:pt x="0" y="66780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37749" r="0" b="-13774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9525"/>
              <a:ext cx="6434671" cy="6582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spc="9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영상을 보며 찾아봐요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12144375" y="4524375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1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2992100" y="4368803"/>
            <a:ext cx="4000500" cy="1016003"/>
            <a:chOff x="0" y="0"/>
            <a:chExt cx="5334000" cy="135467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2992100" y="4375947"/>
            <a:ext cx="4000500" cy="1008859"/>
            <a:chOff x="0" y="0"/>
            <a:chExt cx="5334000" cy="134514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장마는 보통 언제 시작하나요?</a:t>
              </a:r>
            </a:p>
          </p:txBody>
        </p:sp>
      </p:grpSp>
      <p:sp>
        <p:nvSpPr>
          <p:cNvPr name="Freeform 42" id="42"/>
          <p:cNvSpPr/>
          <p:nvPr/>
        </p:nvSpPr>
        <p:spPr>
          <a:xfrm flipH="false" flipV="false" rot="0">
            <a:off x="12144375" y="5946772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3" id="43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2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992100" y="5791200"/>
            <a:ext cx="4000500" cy="1016003"/>
            <a:chOff x="0" y="0"/>
            <a:chExt cx="5334000" cy="1354671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2992100" y="5798344"/>
            <a:ext cx="4000500" cy="1008859"/>
            <a:chOff x="0" y="0"/>
            <a:chExt cx="5334000" cy="134514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여름에 비가 많이 내리는 까닭은 무엇일까요?</a:t>
              </a:r>
            </a:p>
          </p:txBody>
        </p:sp>
      </p:grpSp>
      <p:sp>
        <p:nvSpPr>
          <p:cNvPr name="Freeform 53" id="53"/>
          <p:cNvSpPr/>
          <p:nvPr/>
        </p:nvSpPr>
        <p:spPr>
          <a:xfrm flipH="false" flipV="false" rot="0">
            <a:off x="12144375" y="7369178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4" id="54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3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2992100" y="7213597"/>
            <a:ext cx="4000500" cy="1016003"/>
            <a:chOff x="0" y="0"/>
            <a:chExt cx="5334000" cy="135467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2992100" y="7220741"/>
            <a:ext cx="4000500" cy="1008859"/>
            <a:chOff x="0" y="0"/>
            <a:chExt cx="5334000" cy="134514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비가 많이 오면 생활이 어떻게 달라질까요?</a:t>
              </a:r>
            </a:p>
          </p:txBody>
        </p:sp>
      </p:grpSp>
      <p:pic>
        <p:nvPicPr>
          <p:cNvPr name="Picture 64" id="64"/>
          <p:cNvPicPr>
            <a:picLocks noChangeAspect="true"/>
          </p:cNvPicPr>
          <p:nvPr>
            <a:videoFile r:link="rId22"/>
          </p:nvPr>
        </p:nvPicPr>
        <p:blipFill>
          <a:blip r:embed="rId21"/>
          <a:stretch>
            <a:fillRect/>
          </a:stretch>
        </p:blipFill>
        <p:spPr>
          <a:xfrm rot="0">
            <a:off x="1117597" y="3187694"/>
            <a:ext cx="10365721" cy="58261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8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9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11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12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6547" y="336547"/>
            <a:ext cx="17818036" cy="9740836"/>
          </a:xfrm>
          <a:custGeom>
            <a:avLst/>
            <a:gdLst/>
            <a:ahLst/>
            <a:cxnLst/>
            <a:rect r="r" b="b" t="t" l="l"/>
            <a:pathLst>
              <a:path h="9740836" w="17818036">
                <a:moveTo>
                  <a:pt x="0" y="0"/>
                </a:moveTo>
                <a:lnTo>
                  <a:pt x="17818036" y="0"/>
                </a:lnTo>
                <a:lnTo>
                  <a:pt x="17818036" y="9740836"/>
                </a:lnTo>
                <a:lnTo>
                  <a:pt x="0" y="9740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95375" y="841372"/>
            <a:ext cx="2457450" cy="615886"/>
          </a:xfrm>
          <a:custGeom>
            <a:avLst/>
            <a:gdLst/>
            <a:ahLst/>
            <a:cxnLst/>
            <a:rect r="r" b="b" t="t" l="l"/>
            <a:pathLst>
              <a:path h="615886" w="2457450">
                <a:moveTo>
                  <a:pt x="0" y="0"/>
                </a:moveTo>
                <a:lnTo>
                  <a:pt x="2457450" y="0"/>
                </a:lnTo>
                <a:lnTo>
                  <a:pt x="2457450" y="615886"/>
                </a:lnTo>
                <a:lnTo>
                  <a:pt x="0" y="6158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17291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291">
                  <a:moveTo>
                    <a:pt x="0" y="0"/>
                  </a:moveTo>
                  <a:lnTo>
                    <a:pt x="3217291" y="0"/>
                  </a:lnTo>
                  <a:lnTo>
                    <a:pt x="3217291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2213" r="-1" b="-3221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17329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329">
                  <a:moveTo>
                    <a:pt x="0" y="0"/>
                  </a:moveTo>
                  <a:lnTo>
                    <a:pt x="3217329" y="0"/>
                  </a:lnTo>
                  <a:lnTo>
                    <a:pt x="3217329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2270" r="0" b="-3227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3217329" cy="762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spc="6">
                  <a:solidFill>
                    <a:srgbClr val="1F3A1F"/>
                  </a:solidFill>
                  <a:latin typeface="Mandali"/>
                  <a:ea typeface="Mandali"/>
                  <a:cs typeface="Mandali"/>
                  <a:sym typeface="Mandali"/>
                </a:rPr>
                <a:t>뉴스로 보기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166710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74525" r="0" b="-274525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66671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4750" r="0" b="-27475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66671" cy="1270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280"/>
                </a:lnSpc>
              </a:pPr>
              <a:r>
                <a:rPr lang="en-US" sz="4400" spc="17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김장, 계절이 만든 우리 문화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7597" y="2603497"/>
            <a:ext cx="15875003" cy="431797"/>
            <a:chOff x="0" y="0"/>
            <a:chExt cx="21166671" cy="57572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166710" cy="575691"/>
            </a:xfrm>
            <a:custGeom>
              <a:avLst/>
              <a:gdLst/>
              <a:ahLst/>
              <a:cxnLst/>
              <a:rect r="r" b="b" t="t" l="l"/>
              <a:pathLst>
                <a:path h="575691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575691"/>
                  </a:lnTo>
                  <a:lnTo>
                    <a:pt x="0" y="57569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65912" r="0" b="-66592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17597" y="2610641"/>
            <a:ext cx="15875003" cy="424653"/>
            <a:chOff x="0" y="0"/>
            <a:chExt cx="21166671" cy="5662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66671" cy="566204"/>
            </a:xfrm>
            <a:custGeom>
              <a:avLst/>
              <a:gdLst/>
              <a:ahLst/>
              <a:cxnLst/>
              <a:rect r="r" b="b" t="t" l="l"/>
              <a:pathLst>
                <a:path h="566204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566204"/>
                  </a:lnTo>
                  <a:lnTo>
                    <a:pt x="0" y="566204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78417" r="0" b="-67841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21166671" cy="5566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겨울을 준비하는 우리 조상의 지혜를 뉴스로 만나요.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084259" y="3243262"/>
            <a:ext cx="10226612" cy="5781675"/>
          </a:xfrm>
          <a:custGeom>
            <a:avLst/>
            <a:gdLst/>
            <a:ahLst/>
            <a:cxnLst/>
            <a:rect r="r" b="b" t="t" l="l"/>
            <a:pathLst>
              <a:path h="5781675" w="10226612">
                <a:moveTo>
                  <a:pt x="0" y="0"/>
                </a:moveTo>
                <a:lnTo>
                  <a:pt x="10226612" y="0"/>
                </a:lnTo>
                <a:lnTo>
                  <a:pt x="10226612" y="5781676"/>
                </a:lnTo>
                <a:lnTo>
                  <a:pt x="0" y="578167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571868" y="5106038"/>
            <a:ext cx="1251394" cy="1251394"/>
          </a:xfrm>
          <a:custGeom>
            <a:avLst/>
            <a:gdLst/>
            <a:ahLst/>
            <a:cxnLst/>
            <a:rect r="r" b="b" t="t" l="l"/>
            <a:pathLst>
              <a:path h="1251394" w="1251394">
                <a:moveTo>
                  <a:pt x="0" y="0"/>
                </a:moveTo>
                <a:lnTo>
                  <a:pt x="1251394" y="0"/>
                </a:lnTo>
                <a:lnTo>
                  <a:pt x="1251394" y="1251395"/>
                </a:lnTo>
                <a:lnTo>
                  <a:pt x="0" y="125139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5992463" y="5453510"/>
            <a:ext cx="556546" cy="556546"/>
          </a:xfrm>
          <a:custGeom>
            <a:avLst/>
            <a:gdLst/>
            <a:ahLst/>
            <a:cxnLst/>
            <a:rect r="r" b="b" t="t" l="l"/>
            <a:pathLst>
              <a:path h="556546" w="556546">
                <a:moveTo>
                  <a:pt x="0" y="0"/>
                </a:moveTo>
                <a:lnTo>
                  <a:pt x="556546" y="0"/>
                </a:lnTo>
                <a:lnTo>
                  <a:pt x="556546" y="556546"/>
                </a:lnTo>
                <a:lnTo>
                  <a:pt x="0" y="556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1117597" y="9118597"/>
            <a:ext cx="10160003" cy="436693"/>
            <a:chOff x="0" y="0"/>
            <a:chExt cx="13546671" cy="58225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546710" cy="582295"/>
            </a:xfrm>
            <a:custGeom>
              <a:avLst/>
              <a:gdLst/>
              <a:ahLst/>
              <a:cxnLst/>
              <a:rect r="r" b="b" t="t" l="l"/>
              <a:pathLst>
                <a:path h="582295" w="13546710">
                  <a:moveTo>
                    <a:pt x="0" y="0"/>
                  </a:moveTo>
                  <a:lnTo>
                    <a:pt x="13546710" y="0"/>
                  </a:lnTo>
                  <a:lnTo>
                    <a:pt x="13546710" y="582295"/>
                  </a:lnTo>
                  <a:lnTo>
                    <a:pt x="0" y="58229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02992" r="0" b="-402988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17597" y="9111453"/>
            <a:ext cx="10160003" cy="443836"/>
            <a:chOff x="0" y="0"/>
            <a:chExt cx="13546671" cy="5917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546671" cy="591785"/>
            </a:xfrm>
            <a:custGeom>
              <a:avLst/>
              <a:gdLst/>
              <a:ahLst/>
              <a:cxnLst/>
              <a:rect r="r" b="b" t="t" l="l"/>
              <a:pathLst>
                <a:path h="591785" w="13546671">
                  <a:moveTo>
                    <a:pt x="0" y="0"/>
                  </a:moveTo>
                  <a:lnTo>
                    <a:pt x="13546671" y="0"/>
                  </a:lnTo>
                  <a:lnTo>
                    <a:pt x="13546671" y="591785"/>
                  </a:lnTo>
                  <a:lnTo>
                    <a:pt x="0" y="59178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96036" r="0" b="-39603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13546671" cy="60130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출처:           SBS 8 뉴스 (    2023년   12월    2일)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1763375" y="3254378"/>
            <a:ext cx="5632418" cy="5759482"/>
          </a:xfrm>
          <a:custGeom>
            <a:avLst/>
            <a:gdLst/>
            <a:ahLst/>
            <a:cxnLst/>
            <a:rect r="r" b="b" t="t" l="l"/>
            <a:pathLst>
              <a:path h="5759482" w="5632418">
                <a:moveTo>
                  <a:pt x="0" y="0"/>
                </a:moveTo>
                <a:lnTo>
                  <a:pt x="5632418" y="0"/>
                </a:lnTo>
                <a:lnTo>
                  <a:pt x="5632418" y="5759482"/>
                </a:lnTo>
                <a:lnTo>
                  <a:pt x="0" y="57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12166597" y="3632197"/>
            <a:ext cx="4826003" cy="507997"/>
            <a:chOff x="0" y="0"/>
            <a:chExt cx="6434671" cy="67732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434709" cy="677291"/>
            </a:xfrm>
            <a:custGeom>
              <a:avLst/>
              <a:gdLst/>
              <a:ahLst/>
              <a:cxnLst/>
              <a:rect r="r" b="b" t="t" l="l"/>
              <a:pathLst>
                <a:path h="677291" w="6434709">
                  <a:moveTo>
                    <a:pt x="0" y="0"/>
                  </a:moveTo>
                  <a:lnTo>
                    <a:pt x="6434709" y="0"/>
                  </a:lnTo>
                  <a:lnTo>
                    <a:pt x="6434709" y="677291"/>
                  </a:lnTo>
                  <a:lnTo>
                    <a:pt x="0" y="67729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34987" r="0" b="-134993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166597" y="3639341"/>
            <a:ext cx="4826003" cy="500853"/>
            <a:chOff x="0" y="0"/>
            <a:chExt cx="6434671" cy="66780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434671" cy="667804"/>
            </a:xfrm>
            <a:custGeom>
              <a:avLst/>
              <a:gdLst/>
              <a:ahLst/>
              <a:cxnLst/>
              <a:rect r="r" b="b" t="t" l="l"/>
              <a:pathLst>
                <a:path h="667804" w="6434671">
                  <a:moveTo>
                    <a:pt x="0" y="0"/>
                  </a:moveTo>
                  <a:lnTo>
                    <a:pt x="6434671" y="0"/>
                  </a:lnTo>
                  <a:lnTo>
                    <a:pt x="6434671" y="667804"/>
                  </a:lnTo>
                  <a:lnTo>
                    <a:pt x="0" y="667804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37749" r="0" b="-137749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9525"/>
              <a:ext cx="6434671" cy="6582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spc="9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영상을 보며 찾아봐요</a:t>
              </a: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12144375" y="4524375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4" id="34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1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992100" y="4368803"/>
            <a:ext cx="4000500" cy="1016003"/>
            <a:chOff x="0" y="0"/>
            <a:chExt cx="5334000" cy="135467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992100" y="4375947"/>
            <a:ext cx="4000500" cy="1008859"/>
            <a:chOff x="0" y="0"/>
            <a:chExt cx="5334000" cy="134514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김장은 언제, 왜 할까요?</a:t>
              </a:r>
            </a:p>
          </p:txBody>
        </p:sp>
      </p:grpSp>
      <p:sp>
        <p:nvSpPr>
          <p:cNvPr name="Freeform 44" id="44"/>
          <p:cNvSpPr/>
          <p:nvPr/>
        </p:nvSpPr>
        <p:spPr>
          <a:xfrm flipH="false" flipV="false" rot="0">
            <a:off x="12144375" y="5946772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5" id="45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2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992100" y="5791200"/>
            <a:ext cx="4000500" cy="1016003"/>
            <a:chOff x="0" y="0"/>
            <a:chExt cx="5334000" cy="135467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992100" y="5798344"/>
            <a:ext cx="4000500" cy="1008859"/>
            <a:chOff x="0" y="0"/>
            <a:chExt cx="5334000" cy="134514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김장 문화는 2013년 유네스코 인류무형문화유산이 되었어요. 그 까닭은?</a:t>
              </a: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12144375" y="7369178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3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992100" y="7213597"/>
            <a:ext cx="4000500" cy="1016003"/>
            <a:chOff x="0" y="0"/>
            <a:chExt cx="5334000" cy="1354671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2992100" y="7220741"/>
            <a:ext cx="4000500" cy="1008859"/>
            <a:chOff x="0" y="0"/>
            <a:chExt cx="5334000" cy="134514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계절과 이어진 다른 우리 문화는 무엇이 있을까요?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117597" y="3243262"/>
            <a:ext cx="10193274" cy="5705666"/>
            <a:chOff x="0" y="0"/>
            <a:chExt cx="1452082" cy="8128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452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452082">
                  <a:moveTo>
                    <a:pt x="0" y="0"/>
                  </a:moveTo>
                  <a:lnTo>
                    <a:pt x="1452082" y="0"/>
                  </a:lnTo>
                  <a:lnTo>
                    <a:pt x="1452082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/>
              <a:stretch>
                <a:fillRect l="-43830" t="0" r="194" b="0"/>
              </a:stretch>
            </a:blip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1117597" y="6499860"/>
            <a:ext cx="10160003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spc="8">
                <a:solidFill>
                  <a:srgbClr val="0F5A73"/>
                </a:solidFill>
                <a:latin typeface="Mandali"/>
                <a:ea typeface="Mandali"/>
                <a:cs typeface="Mandali"/>
                <a:sym typeface="Mandali"/>
              </a:rPr>
              <a:t>여기에 뉴스 영상을 넣어 주세요</a:t>
            </a:r>
          </a:p>
          <a:p>
            <a:pPr algn="ctr">
              <a:lnSpc>
                <a:spcPts val="2040"/>
              </a:lnSpc>
            </a:pPr>
            <a:r>
              <a:rPr lang="en-US" sz="1700" spc="6">
                <a:solidFill>
                  <a:srgbClr val="6B7F88"/>
                </a:solidFill>
                <a:latin typeface="Mandali"/>
                <a:ea typeface="Mandali"/>
                <a:cs typeface="Mandali"/>
                <a:sym typeface="Mandali"/>
              </a:rPr>
              <a:t>이 상자를 지우고 영상을 같은 자리에 놓으면 돼요</a:t>
            </a:r>
          </a:p>
        </p:txBody>
      </p:sp>
      <p:pic>
        <p:nvPicPr>
          <p:cNvPr name="Picture 69" id="69"/>
          <p:cNvPicPr>
            <a:picLocks noChangeAspect="true"/>
          </p:cNvPicPr>
          <p:nvPr>
            <a:videoFile r:link="rId24"/>
          </p:nvPr>
        </p:nvPicPr>
        <p:blipFill>
          <a:blip r:embed="rId23"/>
          <a:stretch>
            <a:fillRect/>
          </a:stretch>
        </p:blipFill>
        <p:spPr>
          <a:xfrm rot="0">
            <a:off x="1028700" y="3187694"/>
            <a:ext cx="10248900" cy="57605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 xmlns:r="http://schemas.openxmlformats.org/officeDocument/2006/relationships"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0" y="-182880"/>
            <a:ext cx="4937760" cy="52220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2377440"/>
            <a:ext cx="11887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온대기후에 대해 잘 알게 되었으니…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023360"/>
            <a:ext cx="11887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이제 </a:t>
            </a:r>
            <a:r>
              <a:rPr sz="84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본격적으로</a:t>
            </a:r>
            <a:r>
              <a:rPr sz="8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시작해 볼까요?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766560"/>
            <a:ext cx="11887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※ 지금부터 배운 내용이 탈출의 열쇠가 됩니다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7070767" cy="6151567"/>
          </a:xfrm>
          <a:custGeom>
            <a:avLst/>
            <a:gdLst/>
            <a:ahLst/>
            <a:cxnLst/>
            <a:rect r="r" b="b" t="t" l="l"/>
            <a:pathLst>
              <a:path h="6151567" w="7070767">
                <a:moveTo>
                  <a:pt x="0" y="0"/>
                </a:moveTo>
                <a:lnTo>
                  <a:pt x="7070767" y="0"/>
                </a:lnTo>
                <a:lnTo>
                  <a:pt x="7070767" y="6151567"/>
                </a:lnTo>
                <a:lnTo>
                  <a:pt x="0" y="61515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194661" y="4532155"/>
            <a:ext cx="9542365" cy="7872451"/>
          </a:xfrm>
          <a:custGeom>
            <a:avLst/>
            <a:gdLst/>
            <a:ahLst/>
            <a:cxnLst/>
            <a:rect r="r" b="b" t="t" l="l"/>
            <a:pathLst>
              <a:path h="7872451" w="9542365">
                <a:moveTo>
                  <a:pt x="0" y="0"/>
                </a:moveTo>
                <a:lnTo>
                  <a:pt x="9542365" y="0"/>
                </a:lnTo>
                <a:lnTo>
                  <a:pt x="9542365" y="7872451"/>
                </a:lnTo>
                <a:lnTo>
                  <a:pt x="0" y="78724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852952" y="0"/>
            <a:ext cx="4637380" cy="4907280"/>
          </a:xfrm>
          <a:custGeom>
            <a:avLst/>
            <a:gdLst/>
            <a:ahLst/>
            <a:cxnLst/>
            <a:rect r="r" b="b" t="t" l="l"/>
            <a:pathLst>
              <a:path h="4907280" w="4637380">
                <a:moveTo>
                  <a:pt x="0" y="0"/>
                </a:moveTo>
                <a:lnTo>
                  <a:pt x="4637380" y="0"/>
                </a:lnTo>
                <a:lnTo>
                  <a:pt x="4637380" y="4907280"/>
                </a:lnTo>
                <a:lnTo>
                  <a:pt x="0" y="49072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1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TextBox 4"/>
          <p:cNvSpPr txBox="1"/>
          <p:nvPr/>
        </p:nvSpPr>
        <p:spPr>
          <a:xfrm rot="21240000">
            <a:off x="0" y="2103120"/>
            <a:ext cx="18288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콰아악!</a:t>
            </a:r>
          </a:p>
        </p:txBody>
      </p:sp>
      <p:sp>
        <p:nvSpPr>
          <p:cNvPr id="6" name="TextBox 5"/>
          <p:cNvSpPr txBox="1"/>
          <p:nvPr/>
        </p:nvSpPr>
        <p:spPr>
          <a:xfrm rot="240000">
            <a:off x="0" y="5760720"/>
            <a:ext cx="18288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쾅!!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43200"/>
            <a:ext cx="18288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어…? 여기는 어디지?!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문이 잠겨 있다… 무언가를 풀어야만 나갈 수 있을 것 같다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 xmlns:r="http://schemas.openxmlformats.org/officeDocument/2006/relationships"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400" y="5120640"/>
            <a:ext cx="6400800" cy="5567362"/>
          </a:xfrm>
          <a:prstGeom prst="rect">
            <a:avLst/>
          </a:prstGeom>
        </p:spPr>
      </p:pic>
      <p:pic xmlns:r="http://schemas.openxmlformats.org/officeDocument/2006/relationships"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80" y="-182880"/>
            <a:ext cx="3840480" cy="40615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55448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ESCAPE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8288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더 선뙈기후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46320"/>
            <a:ext cx="18288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: 온대기후방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731520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7개의 방을 모두 통과하고, 살아서 탈출하라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4008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탈출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총 7개의 방 · 방을 하나씩 통과하며 열쇠 조각을 모아라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017520"/>
            <a:ext cx="5486400" cy="6309360"/>
          </a:xfrm>
          <a:prstGeom prst="roundRect">
            <a:avLst>
              <a:gd name="adj" fmla="val 8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rt 5"/>
          <p:cNvSpPr/>
          <p:nvPr/>
        </p:nvSpPr>
        <p:spPr>
          <a:xfrm>
            <a:off x="2331720" y="3474720"/>
            <a:ext cx="2651760" cy="2386584"/>
          </a:xfrm>
          <a:prstGeom prst="hear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548640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시작 생명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722376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모든 참가자는 생명
15개를 가지고 시작한다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017520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0" y="3236976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323697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생명 감소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58444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실패 · 함정 · 오답 → 생명이 줄어든다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4297679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4517136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451713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38911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열쇠 조각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864607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방을 하나 통과할 때마다 열쇠 조각 1개 획득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5577840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23760" y="5797296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579729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66927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탈출 성공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14476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조각 7개를 합쳐 문을 열고, 생명이 1개 이상이면 탈출!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6857999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23760" y="7077455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7077455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694943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탈락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7424927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생명이 0개가 되면 그 자리에서 탈출 실패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8138159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23760" y="8357615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8357615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822959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순위 결정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8705087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탈출 성공자끼리는 남은 생명이 많을수록 높은 순위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97280"/>
            <a:ext cx="18288000" cy="27432000"/>
          </a:xfrm>
          <a:prstGeom prst="rect">
            <a:avLst/>
          </a:prstGeom>
        </p:spPr>
      </p:pic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ROOM 1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넌센스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웃음 참기 금지! 말장난의 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97280"/>
            <a:ext cx="18288000" cy="27432000"/>
          </a:xfrm>
          <a:prstGeom prst="rect">
            <a:avLst/>
          </a:prstGeom>
        </p:spPr>
      </p:pic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C4121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ROOM 1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넌센스 방의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가볍게 머리를 풀어 주는
쉬운 넌센스 퀴즈!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63490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29250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0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답은 종이에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9250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문제가 나오면
답을 종이에 적는다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04019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69780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9780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바로 정답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9780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문제마다 바로
정답을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544549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10309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2B3A42"/>
                </a:solidFill>
                <a:latin typeface="Black and White Picture"/>
                <a:ea typeface="Black and White Picture"/>
                <a:cs typeface="Black and White Picture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10309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2B3A42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10309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2B3A42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2" name="Heart 21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모두 생명 15개로 시작!  힌트(초성)도 있으니 겁먹지 마세요</a:t>
            </a: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Q1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세상에서 가장 뜨거운 과일은?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ㅊㄷ ㅂㅅㅇ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1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Q1. 세상에서 가장 뜨거운 과일은?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천도복숭아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온도가 무려 1000도(천도)라서!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Q2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왕이 넘어지면 나는 소리는?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ㅋㅋ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2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Q2. 왕이 넘어지면 나는 소리는?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킹콩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킹(King)이 콩! 하고 넘어져서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Q3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소가 웃으면 나는 소리는?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ㅇㅎㅎ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3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Q3. 소가 웃으면 나는 소리는?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우하하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소는 "우~" 하고 우니까, 웃으면 우하하!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Q4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세상에서 가장 쉬운 숫자는?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ㅅㄱㅁ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4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Q4. 세상에서 가장 쉬운 숫자는?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190,000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십구만 → "쉽구만!"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Q5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딸기가 회사에서 잘리면?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ㄸㄱ ㅅㄹ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5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Q5. 딸기가 회사에서 잘리면?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딸기시럽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딸기 + 실업 = 딸기시럽!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1번째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1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1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92640" y="9144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93440" y="146304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0" y="5029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315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ROOM 2 /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노래 퀴즈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전주만 듣고 맞혀라! 네온 노래방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92640" y="9144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0" y="146304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0" y="5029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315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ROOM 2 /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노래 방의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노래는 총 3곡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진행자가 노래 전주를
틀어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제목 맞히기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노래를 듣고 제목을
종이에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제목이 틀리면 오답 →
생명 1개 감소</a:t>
            </a:r>
          </a:p>
        </p:txBody>
      </p:sp>
      <p:sp>
        <p:nvSpPr>
          <p:cNvPr id="20" name="Heart 19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가수 힌트와 초성 힌트가 함께 나와요!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Q1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전주를 듣고 노래 제목을 맞혀라!  (가수: 아이유)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ㅈㅇ ㄴ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509760" y="7863840"/>
            <a:ext cx="7955279" cy="1463040"/>
          </a:xfrm>
          <a:prstGeom prst="roundRect">
            <a:avLst>
              <a:gd name="adj" fmla="val 50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r:id="rId2"/>
          </p:cNvPr>
          <p:cNvSpPr txBox="1"/>
          <p:nvPr/>
        </p:nvSpPr>
        <p:spPr>
          <a:xfrm>
            <a:off x="9509760" y="7863840"/>
            <a:ext cx="79552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1B1036"/>
                </a:solidFill>
                <a:latin typeface="Arial"/>
                <a:ea typeface="Arial"/>
                <a:cs typeface="Arial"/>
                <a:hlinkClick r:id="rId2"/>
              </a:rPr>
              <a:t>▶  </a:t>
            </a:r>
            <a:r>
              <a:rPr sz="4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  <a:hlinkClick r:id="rId2"/>
              </a:rPr>
              <a:t>눌러서 노래 듣기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1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정답 1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Q1. 가수: 아이유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좋은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아이유의 대표곡 "좋은 날"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Q2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전주를 듣고 노래 제목을 맞혀라!  (가수: 방탄소년단(BTS))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영어 제목 · 7글자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509760" y="7863840"/>
            <a:ext cx="7955279" cy="1463040"/>
          </a:xfrm>
          <a:prstGeom prst="roundRect">
            <a:avLst>
              <a:gd name="adj" fmla="val 50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r:id="rId2"/>
          </p:cNvPr>
          <p:cNvSpPr txBox="1"/>
          <p:nvPr/>
        </p:nvSpPr>
        <p:spPr>
          <a:xfrm>
            <a:off x="9509760" y="7863840"/>
            <a:ext cx="79552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1B1036"/>
                </a:solidFill>
                <a:latin typeface="Arial"/>
                <a:ea typeface="Arial"/>
                <a:cs typeface="Arial"/>
                <a:hlinkClick r:id="rId2"/>
              </a:rPr>
              <a:t>▶  </a:t>
            </a:r>
            <a:r>
              <a:rPr sz="4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  <a:hlinkClick r:id="rId2"/>
              </a:rPr>
              <a:t>눌러서 노래 듣기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1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정답 2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Q2. 가수: 방탄소년단(BTS)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Dynamite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BTS의 첫 빌보드 1위곡!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Q3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전주를 듣고 노래 제목을 맞혀라!  (가수: 싸이(PSY))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ㄱㄴㅅㅌㅇ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509760" y="7863840"/>
            <a:ext cx="7955279" cy="1463040"/>
          </a:xfrm>
          <a:prstGeom prst="roundRect">
            <a:avLst>
              <a:gd name="adj" fmla="val 50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r:id="rId2"/>
          </p:cNvPr>
          <p:cNvSpPr txBox="1"/>
          <p:nvPr/>
        </p:nvSpPr>
        <p:spPr>
          <a:xfrm>
            <a:off x="9509760" y="7863840"/>
            <a:ext cx="79552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1B1036"/>
                </a:solidFill>
                <a:latin typeface="Arial"/>
                <a:ea typeface="Arial"/>
                <a:cs typeface="Arial"/>
                <a:hlinkClick r:id="rId2"/>
              </a:rPr>
              <a:t>▶  </a:t>
            </a:r>
            <a:r>
              <a:rPr sz="4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  <a:hlinkClick r:id="rId2"/>
              </a:rPr>
              <a:t>눌러서 노래 듣기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1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정답 3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Q3. 가수: 싸이(PSY)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강남스타일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말춤으로 전 세계를 휩쓴 노래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2번째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2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2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6093440" y="91440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642080" y="91440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093440" y="190195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676656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0" y="676656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0" y="775411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16824960" y="45720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058400" y="27432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7282160" y="7498079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ROOM 3 /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상식 퀴즈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세계를 여행하는 지도의 방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2C1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6093440" y="91440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642080" y="91440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93440" y="190195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0" y="676656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676656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0" y="775411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6824960" y="45720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058400" y="27432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>
            <a:off x="17282160" y="7498079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ROOM 3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상식 방의 규칙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나라 · 수도 · 세계에 대한
기본 상식 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답은 종이에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주관식은 쓰고,
객관식은 번호를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0F2A47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0F2A47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0F2A47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2" name="Heart 21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세계 지도를 머릿속에 펼쳐 보세요!</a:t>
            </a:r>
          </a:p>
        </p:txBody>
      </p:sp>
    </p:spTree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Q1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일본의 수도는 어디일까?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ㄷㅋ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Q1. 일본의 수도는 어디일까?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도쿄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일본의 수도는 도쿄(東京)!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Q2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에펠탑이 있는 나라는?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ㅍㄹㅅ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Q2. 에펠탑이 있는 나라는?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프랑스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에펠탑은 프랑스 파리에 있어요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Q3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세계에서 면적이 가장 넓은 나라는?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미국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중국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러시아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캐나다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Q3. 세계에서 면적이 가장 넓은 나라는?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③ 러시아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러시아는 한반도의 약 77배 크기!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Q4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피라미드와 스핑크스로 유명한 나라는?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ㅇㅈㅌ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Q4. 피라미드와 스핑크스로 유명한 나라는?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이집트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아프리카 북동쪽, 나일강의 나라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Q5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태극기 가운데 태극 문양의 두 가지 색은?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빨강 · 파랑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빨강 · 노랑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검정 · 파랑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초록 · 빨강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Q5. 태극기 가운데 태극 문양의 두 가지 색은?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① 빨강 · 파랑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위쪽은 빨강(양), 아래쪽은 파랑(음)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3번째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3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3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6093440" y="914400"/>
            <a:ext cx="1828800" cy="18288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755312" y="1418096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054414" y="134639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49210" y="161454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12234" y="1744159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93486" y="167668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733520" y="5852160"/>
            <a:ext cx="1280160" cy="128016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034265" y="6166255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61278" y="6637443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068795" y="6251082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91159" y="6714801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358944" y="6362099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92640" y="7132320"/>
            <a:ext cx="1463040" cy="14630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99398" y="7459004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13234" y="7636782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90773" y="7511095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10908" y="8021940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17452" y="7850380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66960" y="1280160"/>
            <a:ext cx="1005840" cy="10058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89450" y="1668614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599" y="1512905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98102" y="1584908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10314" y="1696372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26118" y="1775818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824960" y="365760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41280" y="475488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ROOM 4 /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과자 퀴즈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달콤한 함정이 숨어 있는 과자 공장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F8FB1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6093440" y="914400"/>
            <a:ext cx="1828800" cy="18288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873591" y="1554266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185580" y="1919320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2401" y="1805413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939439" y="208038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126204" y="1543450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33520" y="5852160"/>
            <a:ext cx="1280160" cy="128016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616942" y="6183763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57184" y="6592822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086834" y="6421167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014647" y="6535903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478938" y="6474974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92640" y="7132320"/>
            <a:ext cx="1463040" cy="14630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25677" y="7654440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93870" y="7859721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409452" y="7758651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99701" y="8115981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060" y="7910768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66960" y="1280160"/>
            <a:ext cx="1005840" cy="10058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98639" y="1834122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93582" y="1980775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81490" y="1624456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62150" y="1817606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475" y="1713523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824960" y="365760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41280" y="475488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ROOM 4 /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50405" y="97731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40674" y="163225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711471" y="110859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974608" y="173604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662427" y="131134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97829" y="277447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458211" y="2762941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136746" y="2496259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184503" y="277495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540501" y="233912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과자 방의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우리가 자주 먹는
과자에 대한 퀴즈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답은 종이에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과자 이름을 정확하게
종이에 적는다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4A2616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4A2616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4A2616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30" name="Heart 29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배고파도 참기! 과자는 탈출한 뒤에…</a:t>
            </a:r>
          </a:p>
        </p:txBody>
      </p:sp>
    </p:spTree>
  </p:cSld>
  <p:clrMapOvr>
    <a:masterClrMapping/>
  </p:clrMapOvr>
  <p:transition spd="slow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Q1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58622" y="109284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816074" y="134733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73939" y="112381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85493" y="1280929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52786" y="1429184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37747" y="265982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277651" y="261649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73170" y="228151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505910" y="271300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491039" y="2723647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"손이 가요 손이 가~" 노래로 유명한 과자는?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ㅅㅇㄲ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Q1. "손이 가요 손이 가~" 노래로 유명한 과자는?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새우깡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"손이 가요 손이 가~ 새우깡에 손이 가요~"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Q2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976046" y="1260844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5517" y="1497529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643987" y="92727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91358" y="102278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23415" y="912418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971402" y="2339329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031570" y="2465539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986420" y="276909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336242" y="233771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121195" y="2455898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포장지에 정(情)이라는 글자가 적힌 초코 과자는?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ㅊㅋㅍㅇ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Q2. 포장지에 정(情)이라는 글자가 적힌 초코 과자는?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초코파이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"情" 하면 떠오르는 바로 그 과자!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Q3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947666" y="98309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35270" y="1858438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50086" y="134619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667762" y="96232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26012" y="1125839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463902" y="234537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84991" y="2814651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85239" y="2336558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94103" y="226549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285151" y="283100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꼬북칩은 과자가 몇 겹으로 되어 있을까?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2겹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3겹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5겹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Q3. 꼬북칩은 과자가 몇 겹으로 되어 있을까?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③ 4겹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네 겹이라서 더 바삭바삭!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Q4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49742" y="1559798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844016" y="122837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749393" y="1635982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17078" y="164314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12966" y="108388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453593" y="2834824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478032" y="2728524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57648" y="2689174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106028" y="2557087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182596" y="2266648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11월 11일은 무슨 과자를 주고받는 날일까?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ㅃㅃㄹ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Q4. 11월 11일은 무슨 과자를 주고받는 날일까?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빼빼로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1이 네 개 = 길쭉한 빼빼로 모양!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Q5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09476" y="114058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842063" y="1556102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543477" y="130937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23869" y="1853344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41953" y="1226301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102297" y="238425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088178" y="237089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42184" y="2784531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470785" y="2534403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59368" y="2724700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꽃게 모양으로 생긴 바삭한 과자 이름은?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ㄲㄱㄹ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Q5. 꽃게 모양으로 생긴 바삭한 과자 이름은?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꽃게랑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꽃게 모양이라서 꽃게랑!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4번째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4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4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20460000">
            <a:off x="16966795" y="6660732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60000">
            <a:off x="16129276" y="1063811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9980000">
            <a:off x="10067065" y="6198011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9620000">
            <a:off x="15866982" y="6855455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140000">
            <a:off x="16854361" y="5654613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960000">
            <a:off x="9758022" y="480368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20340000">
            <a:off x="17441162" y="8304246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3480000">
            <a:off x="16185776" y="2077939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9380000">
            <a:off x="16837972" y="4746014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3720000">
            <a:off x="17104630" y="5696509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276320" y="548640"/>
            <a:ext cx="1371600" cy="137160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ROOM 5 /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온대기후 퀴즈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사계절이 흐르는 초록 숲의 방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B8E36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 rot="3840000">
            <a:off x="10024284" y="4645206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9680000">
            <a:off x="10114728" y="5262628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780000">
            <a:off x="9774553" y="4843563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9020000">
            <a:off x="16741182" y="6676581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900000">
            <a:off x="10489585" y="2594034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3540000">
            <a:off x="10111879" y="3932455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3960000">
            <a:off x="16165555" y="4005659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21360000">
            <a:off x="10413277" y="5992170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9500000">
            <a:off x="10529373" y="7125003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21060000">
            <a:off x="16500798" y="949518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276320" y="548640"/>
            <a:ext cx="1371600" cy="137160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ROOM 5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온대기후 방의 규칙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앞에서 배운 온대기후
기본 문제 (OX · 객관식)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번호로 답하기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O / X 또는 번호를
종이에 적는다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1F4D2B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1F4D2B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1F4D2B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2" name="Heart 21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앞에서 배운 내용을 떠올려 보세요!</a:t>
            </a:r>
          </a:p>
        </p:txBody>
      </p:sp>
    </p:spTree>
  </p:cSld>
  <p:clrMapOvr>
    <a:masterClrMapping/>
  </p:clrMapOvr>
  <p:transition spd="slow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Q1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O / X  온대기후는 사계절의 변화가 뚜렷하다.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X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Q1. O / X  온대기후는 사계절의 변화가 뚜렷하다.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여름·겨울의 기온 차가 있어 사계절이 나타나요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Q2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온대기후의 가장 추운 달 평균기온은?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-3℃ ~ 18℃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18℃ 이상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-3℃ 미만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30℃ 이상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Q2. 온대기후의 가장 추운 달 평균기온은?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-3℃ ~ 18℃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18℃ 이상은 열대, -3℃ 미만은 냉대기후!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Q3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지중해성 기후의 여름 날씨는?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덥고 건조하다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춥고 눈이 온다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서늘하고 흐리다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매일 비가 온다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Q3. 지중해성 기후의 여름 날씨는?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덥고 건조하다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여름엔 덥고 건조, 겨울엔 온화하고 비가 와요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Q4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서안 해양성 기후가 나타나는 대표 지역은?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서유럽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사하라 사막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시베리아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아마존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Q4. 서안 해양성 기후가 나타나는 대표 지역은?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서유럽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영국 · 프랑스 · 독일 등 서유럽!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Q5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지중해성 기후 지역에서 많이 기르는 작물은?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올리브 · 포도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카카오 · 커피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바나나 · 파인애플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순록 이끼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Q5. 지중해성 기후 지역에서 많이 기르는 작물은?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올리브 · 포도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건조한 여름에 강한 올리브·포도·오렌지!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5번째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5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5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9740000">
            <a:off x="16188638" y="6673873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9500000">
            <a:off x="16937038" y="1516271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3240000">
            <a:off x="10574395" y="3570421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400000">
            <a:off x="9764945" y="1665032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660000">
            <a:off x="16520682" y="1940862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2520000">
            <a:off x="16454911" y="4824047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360000">
            <a:off x="16486864" y="4487791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960000">
            <a:off x="9714709" y="8184725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9380000">
            <a:off x="9685752" y="2541964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4020000">
            <a:off x="17295159" y="3632308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loud 14"/>
          <p:cNvSpPr/>
          <p:nvPr/>
        </p:nvSpPr>
        <p:spPr>
          <a:xfrm>
            <a:off x="15910559" y="457200"/>
            <a:ext cx="2194560" cy="1005840"/>
          </a:xfrm>
          <a:prstGeom prst="cloud">
            <a:avLst/>
          </a:prstGeom>
          <a:solidFill>
            <a:srgbClr val="6B5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900000">
            <a:off x="1627632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900000">
            <a:off x="1682496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900000">
            <a:off x="1737360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ROOM 6 /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온대기후 심화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폭풍이 몰아치는 가을 숲 · 난이도 UP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F8A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 rot="18240000">
            <a:off x="16810448" y="1085637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640000">
            <a:off x="10405457" y="2529711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0760000">
            <a:off x="10239344" y="5259593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2160000">
            <a:off x="17318070" y="458670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21060000">
            <a:off x="10533281" y="713424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20460000">
            <a:off x="17502991" y="771151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3480000">
            <a:off x="10538891" y="2698993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7940000">
            <a:off x="10277282" y="8368214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1120000">
            <a:off x="9616635" y="4503664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4140000">
            <a:off x="16003768" y="5648507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loud 15"/>
          <p:cNvSpPr/>
          <p:nvPr/>
        </p:nvSpPr>
        <p:spPr>
          <a:xfrm>
            <a:off x="15910559" y="457200"/>
            <a:ext cx="2194560" cy="1005840"/>
          </a:xfrm>
          <a:prstGeom prst="cloud">
            <a:avLst/>
          </a:prstGeom>
          <a:solidFill>
            <a:srgbClr val="6B5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900000">
            <a:off x="1627632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900000">
            <a:off x="1682496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900000">
            <a:off x="1737360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ROOM 6 /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심화 방의 규칙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온대기후의 "이유"를 묻는
조금 더 어려운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객관식 4지선다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보기 중 알맞은 번호를
종이에 적는다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2E1D14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2E1D14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2E1D14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1" name="Heart 20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난이도 UP! 왜 그런지까지 생각해야 풀 수 있어요</a:t>
            </a:r>
          </a:p>
        </p:txBody>
      </p:sp>
    </p:spTree>
  </p:cSld>
  <p:clrMapOvr>
    <a:masterClrMapping/>
  </p:clrMapOvr>
  <p:transition spd="slow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Q1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서안 해양성 기후가 1년 내내 비가 고르고 겨울에도 따뜻한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편서풍과 난류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계절풍과 한류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무역풍과 한류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극동풍과 빙하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Q1. 서안 해양성 기후가 1년 내내 비가 고르고 겨울에도 따뜻한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편서풍과 난류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바다(난류) 위를 지나온 편서풍이 1년 내내 불어와요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Q2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지중해성 기후의 여름이 건조한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아열대 고압대의 영향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편서풍의 영향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적도 저압대의 영향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높은 산맥 때문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Q2. 지중해성 기후의 여름이 건조한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아열대 고압대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여름엔 고압대가 올라와 비구름이 생기기 어려워요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Q3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동아시아의 여름이 덥고 비가 많은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바다에서 부는 여름 계절풍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사막에서 부는 바람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극지방의 찬 바람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편서풍과 난류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Q3. 동아시아의 여름이 덥고 비가 많은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여름 계절풍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바다에서 덥고 습한 계절풍이 불어와요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Q4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지중해 지역의 집이 흰 벽과 작은 창문을 가진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강한 햇빛을 반사하고 열을 막으려고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추위를 막으려고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홍수에 대비하려고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모래바람을 막으려고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Q4. 지중해 지역의 집이 흰 벽과 작은 창문을 가진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햇빛 · 열 차단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덥고 건조한 여름의 강한 햇빛을 막기 위해서!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Q5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서안 해양성 기후 지역에서 목초가 잘 자라 발달한 농업은?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낙농업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벼농사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플랜테이션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유목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Q5. 서안 해양성 기후 지역에서 목초가 잘 자라 발달한 농업은?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낙농업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풀이 잘 자라 소를 키워 우유·치즈를 생산해요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6번째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6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6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097280"/>
            <a:ext cx="764438" cy="764438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31331" y="1326611"/>
            <a:ext cx="305775" cy="305775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728216" y="1418344"/>
            <a:ext cx="1285463" cy="12231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450409" y="1517721"/>
            <a:ext cx="140817" cy="22933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772278" y="1517721"/>
            <a:ext cx="140817" cy="30577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0400000">
            <a:off x="16002000" y="36576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0400000">
            <a:off x="16002000" y="54864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9120" y="667512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DANGER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ROOM 7 /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최후의 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금고의 암호를 풀어라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D4AF3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2000" y="1097280"/>
            <a:ext cx="764438" cy="764438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31331" y="1326611"/>
            <a:ext cx="305775" cy="305775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728216" y="1418344"/>
            <a:ext cx="1285463" cy="12231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450409" y="1517721"/>
            <a:ext cx="140817" cy="22933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772278" y="1517721"/>
            <a:ext cx="140817" cy="30577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0400000">
            <a:off x="16002000" y="36576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0400000">
            <a:off x="16002000" y="54864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819120" y="667512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DANGER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ROOM 7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최후의 방: 금고를 열어라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숫자 문제 3개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답은 모두
한 자리 숫자!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암호 완성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세 답을 순서대로 이으면
금고 비밀번호가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3" name="Heart 22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안에 마지막 7번째 열쇠 조각이 잠들어 있다…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Q1 / 3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태극기 네 모서리에 있는 괘는 모두 몇 개일까?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6583680"/>
            <a:ext cx="8229600" cy="237744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66751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암호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731520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?  ?  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정답 1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Q1. 태극기 네 모서리에 있는 괘는 모두 몇 개일까?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건 · 곤 · 감 · 리, 모두 4개!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Q2 / 3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이 방탈출에 있는 방은 모두 몇 개일까?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6583680"/>
            <a:ext cx="8229600" cy="237744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66751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암호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731520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  ?  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정답 2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Q2. 이 방탈출에 있는 방은 모두 몇 개일까?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처음부터 말했죠? 방은 총 7개!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Q3 / 3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세계는 보통 몇 개의 대륙으로 나눌까?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6583680"/>
            <a:ext cx="8229600" cy="237744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66751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암호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731520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  7  ?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정답 3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Q3. 세계는 보통 몇 개의 대륙으로 나눌까?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아시아·유럽·아프리카·북아메리카·남아메리카·오세아니아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54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비밀번호는…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83480" y="2926080"/>
            <a:ext cx="2468880" cy="310896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 w="508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83480" y="2926080"/>
            <a:ext cx="246888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2926080"/>
            <a:ext cx="2468880" cy="310896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 w="508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2926080"/>
            <a:ext cx="246888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35640" y="2926080"/>
            <a:ext cx="2468880" cy="310896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 w="508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35640" y="2926080"/>
            <a:ext cx="246888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828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철컥! 금고가 열렸다!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813816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안에서 마지막 열쇠 조각을 발견했다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7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모든 조각을 모았다! 이제 합쳐 보자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7개의 열쇠 조각을 합쳐라!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8720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3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043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5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5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0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47320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47320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17903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17903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4937760"/>
            <a:ext cx="1828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D4AF37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6217920"/>
            <a:ext cx="2084832" cy="208483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26249" y="6843369"/>
            <a:ext cx="833932" cy="833932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81390" y="7093549"/>
            <a:ext cx="3505809" cy="333573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351008" y="7364577"/>
            <a:ext cx="384048" cy="62544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228832" y="7364577"/>
            <a:ext cx="384048" cy="83393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315200" y="4389120"/>
            <a:ext cx="1111910" cy="111191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48773" y="4722693"/>
            <a:ext cx="444764" cy="444764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71514" y="4856122"/>
            <a:ext cx="1869765" cy="17790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21977" y="5000670"/>
            <a:ext cx="204825" cy="333573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90150" y="5000670"/>
            <a:ext cx="204825" cy="4447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8016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마지막 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완성된 열쇠로 탈출문을 연다…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9601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탈출 성공?!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문이 열렸다! 이제 결과를 확인하자</a:t>
            </a:r>
          </a:p>
        </p:txBody>
      </p:sp>
    </p:spTree>
  </p:cSld>
  <p:clrMapOvr>
    <a:masterClrMapping/>
  </p:clrMapOvr>
  <p:transition spd="slow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645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최종 결과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377440"/>
            <a:ext cx="5349240" cy="5852160"/>
          </a:xfrm>
          <a:prstGeom prst="roundRect">
            <a:avLst>
              <a:gd name="adj" fmla="val 6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art 3"/>
          <p:cNvSpPr/>
          <p:nvPr/>
        </p:nvSpPr>
        <p:spPr>
          <a:xfrm>
            <a:off x="1280160" y="2834640"/>
            <a:ext cx="1463040" cy="1316736"/>
          </a:xfrm>
          <a:prstGeom prst="hear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탈출 성공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85216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생명이 1개 이상 남은 사람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377440"/>
            <a:ext cx="5349240" cy="5852160"/>
          </a:xfrm>
          <a:prstGeom prst="roundRect">
            <a:avLst>
              <a:gd name="adj" fmla="val 6000"/>
            </a:avLst>
          </a:prstGeom>
          <a:solidFill>
            <a:srgbClr val="2A2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art 7"/>
          <p:cNvSpPr/>
          <p:nvPr/>
        </p:nvSpPr>
        <p:spPr>
          <a:xfrm>
            <a:off x="6949440" y="2834640"/>
            <a:ext cx="1463040" cy="1316736"/>
          </a:xfrm>
          <a:prstGeom prst="heart">
            <a:avLst/>
          </a:prstGeom>
          <a:solidFill>
            <a:srgbClr val="55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457200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탈출 실패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585216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생명이 0개가 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61520" y="2377440"/>
            <a:ext cx="5349240" cy="5852160"/>
          </a:xfrm>
          <a:prstGeom prst="roundRect">
            <a:avLst>
              <a:gd name="adj" fmla="val 6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0" y="2606040"/>
            <a:ext cx="2286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1st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0" y="457200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순위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0" y="585216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성공자끼리 남은 생명이
많은 순서대로 1등!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8686800"/>
            <a:ext cx="1645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남은 생명을 세어 보세요!  모두 수고했어요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DAHWGg4kd_4</dc:identifier>
  <dcterms:modified xsi:type="dcterms:W3CDTF">2011-08-01T06:04:30Z</dcterms:modified>
  <cp:revision>1</cp:revision>
  <dc:title>온대기후_지역의_사람들은_어떻게 살아갈까-(6학년-6번(최선유))ppt_20260924_192946_0000.pptx</dc:title>
</cp:coreProperties>
</file>